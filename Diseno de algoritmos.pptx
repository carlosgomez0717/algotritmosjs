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77" r:id="rId3"/>
    <p:sldId id="278" r:id="rId4"/>
    <p:sldId id="279" r:id="rId5"/>
    <p:sldId id="280" r:id="rId6"/>
    <p:sldId id="283" r:id="rId7"/>
    <p:sldId id="282" r:id="rId8"/>
    <p:sldId id="290" r:id="rId9"/>
    <p:sldId id="281" r:id="rId10"/>
    <p:sldId id="291" r:id="rId11"/>
    <p:sldId id="284" r:id="rId12"/>
    <p:sldId id="292" r:id="rId13"/>
    <p:sldId id="285" r:id="rId14"/>
    <p:sldId id="293" r:id="rId15"/>
    <p:sldId id="286" r:id="rId16"/>
    <p:sldId id="287" r:id="rId17"/>
    <p:sldId id="294" r:id="rId18"/>
    <p:sldId id="295" r:id="rId19"/>
    <p:sldId id="288" r:id="rId20"/>
    <p:sldId id="296" r:id="rId21"/>
    <p:sldId id="297" r:id="rId22"/>
    <p:sldId id="300" r:id="rId23"/>
    <p:sldId id="289" r:id="rId24"/>
    <p:sldId id="298" r:id="rId25"/>
    <p:sldId id="299" r:id="rId26"/>
    <p:sldId id="265" r:id="rId27"/>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782" autoAdjust="0"/>
  </p:normalViewPr>
  <p:slideViewPr>
    <p:cSldViewPr>
      <p:cViewPr varScale="1">
        <p:scale>
          <a:sx n="79" d="100"/>
          <a:sy n="79" d="100"/>
        </p:scale>
        <p:origin x="1570"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57B0E34-5025-455C-AAC3-A407914B8C42}" type="slidenum">
              <a:rPr lang="es-MX" smtClean="0"/>
              <a:pPr/>
              <a:t>‹Nº›</a:t>
            </a:fld>
            <a:endParaRPr lang="es-MX"/>
          </a:p>
        </p:txBody>
      </p:sp>
    </p:spTree>
    <p:custDataLst>
      <p:tags r:id="rId1"/>
    </p:custDataLst>
    <p:extLst>
      <p:ext uri="{BB962C8B-B14F-4D97-AF65-F5344CB8AC3E}">
        <p14:creationId xmlns:p14="http://schemas.microsoft.com/office/powerpoint/2010/main" val="1479579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130283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3578274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3323740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
              <a:t>Haga clic para modificar el estilo de título del patrón</a:t>
            </a:r>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1681909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2326535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622951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31437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376974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99614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57B0E34-5025-455C-AAC3-A407914B8C42}" type="slidenum">
              <a:rPr lang="es-MX" smtClean="0"/>
              <a:pPr/>
              <a:t>‹Nº›</a:t>
            </a:fld>
            <a:endParaRPr lang="es-MX"/>
          </a:p>
        </p:txBody>
      </p:sp>
    </p:spTree>
    <p:extLst>
      <p:ext uri="{BB962C8B-B14F-4D97-AF65-F5344CB8AC3E}">
        <p14:creationId xmlns:p14="http://schemas.microsoft.com/office/powerpoint/2010/main" val="215264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D02450-2440-42B3-8651-A6E43E99E086}" type="datetimeFigureOut">
              <a:rPr lang="es-MX" smtClean="0"/>
              <a:pPr/>
              <a:t>03/04/2024</a:t>
            </a:fld>
            <a:endParaRPr lang="es-MX"/>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7B0E34-5025-455C-AAC3-A407914B8C42}" type="slidenum">
              <a:rPr lang="es-MX" smtClean="0"/>
              <a:pPr/>
              <a:t>‹Nº›</a:t>
            </a:fld>
            <a:endParaRPr lang="es-MX"/>
          </a:p>
        </p:txBody>
      </p:sp>
    </p:spTree>
    <p:extLst>
      <p:ext uri="{BB962C8B-B14F-4D97-AF65-F5344CB8AC3E}">
        <p14:creationId xmlns:p14="http://schemas.microsoft.com/office/powerpoint/2010/main" val="5087889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683568" y="908720"/>
            <a:ext cx="7200800" cy="1015663"/>
          </a:xfrm>
          <a:prstGeom prst="rect">
            <a:avLst/>
          </a:prstGeom>
        </p:spPr>
        <p:txBody>
          <a:bodyPr wrap="square">
            <a:spAutoFit/>
          </a:bodyPr>
          <a:lstStyle/>
          <a:p>
            <a:pPr marL="457200" indent="-457200" algn="just"/>
            <a:r>
              <a:rPr lang="es-ES" sz="3000" b="1" dirty="0"/>
              <a:t>2.3. Diseño de algoritmos</a:t>
            </a:r>
          </a:p>
          <a:p>
            <a:pPr marL="457200" indent="-457200" algn="just"/>
            <a:r>
              <a:rPr lang="es-ES" sz="3000" b="1" dirty="0"/>
              <a:t>2.3.1. Alternativas de solución</a:t>
            </a:r>
          </a:p>
        </p:txBody>
      </p:sp>
      <p:sp>
        <p:nvSpPr>
          <p:cNvPr id="13" name="12 CuadroTexto"/>
          <p:cNvSpPr txBox="1"/>
          <p:nvPr/>
        </p:nvSpPr>
        <p:spPr>
          <a:xfrm>
            <a:off x="683569" y="2204864"/>
            <a:ext cx="7344816" cy="2893100"/>
          </a:xfrm>
          <a:prstGeom prst="rect">
            <a:avLst/>
          </a:prstGeom>
          <a:noFill/>
        </p:spPr>
        <p:txBody>
          <a:bodyPr wrap="square" rtlCol="0">
            <a:spAutoFit/>
          </a:bodyPr>
          <a:lstStyle/>
          <a:p>
            <a:pPr algn="just"/>
            <a:r>
              <a:rPr lang="es-MX" sz="2600" dirty="0"/>
              <a:t>Es la forma de representar la secuencia lógica de ejecución de instrucciones.</a:t>
            </a:r>
          </a:p>
          <a:p>
            <a:pPr algn="just"/>
            <a:endParaRPr lang="es-MX" sz="2600" dirty="0"/>
          </a:p>
          <a:p>
            <a:pPr algn="just"/>
            <a:r>
              <a:rPr lang="es-MX" sz="2600" dirty="0"/>
              <a:t>Esta puede ser a través de:</a:t>
            </a:r>
          </a:p>
          <a:p>
            <a:pPr algn="just"/>
            <a:endParaRPr lang="es-MX" sz="2600" dirty="0"/>
          </a:p>
          <a:p>
            <a:pPr marL="457200" indent="-457200" algn="just">
              <a:buAutoNum type="arabicParenR"/>
            </a:pPr>
            <a:r>
              <a:rPr lang="es-MX" sz="2600" dirty="0"/>
              <a:t>Diagramas de flujo</a:t>
            </a:r>
          </a:p>
          <a:p>
            <a:pPr marL="457200" indent="-457200" algn="just">
              <a:buAutoNum type="arabicParenR"/>
            </a:pPr>
            <a:r>
              <a:rPr lang="es-MX" sz="2600" dirty="0"/>
              <a:t>Pseudocódigo</a:t>
            </a:r>
          </a:p>
        </p:txBody>
      </p:sp>
    </p:spTree>
    <p:extLst>
      <p:ext uri="{BB962C8B-B14F-4D97-AF65-F5344CB8AC3E}">
        <p14:creationId xmlns:p14="http://schemas.microsoft.com/office/powerpoint/2010/main" val="1866967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683568" y="908720"/>
            <a:ext cx="7200800" cy="553998"/>
          </a:xfrm>
          <a:prstGeom prst="rect">
            <a:avLst/>
          </a:prstGeom>
        </p:spPr>
        <p:txBody>
          <a:bodyPr wrap="square">
            <a:spAutoFit/>
          </a:bodyPr>
          <a:lstStyle/>
          <a:p>
            <a:pPr marL="457200" indent="-457200" algn="just"/>
            <a:r>
              <a:rPr lang="es-ES" sz="3000" b="1" dirty="0"/>
              <a:t>2.3.1.1 Diagrama de flujo </a:t>
            </a:r>
          </a:p>
        </p:txBody>
      </p:sp>
      <p:sp>
        <p:nvSpPr>
          <p:cNvPr id="3" name="2 CuadroTexto"/>
          <p:cNvSpPr txBox="1"/>
          <p:nvPr/>
        </p:nvSpPr>
        <p:spPr>
          <a:xfrm>
            <a:off x="755576" y="1700808"/>
            <a:ext cx="7272808" cy="2308324"/>
          </a:xfrm>
          <a:prstGeom prst="rect">
            <a:avLst/>
          </a:prstGeom>
          <a:noFill/>
        </p:spPr>
        <p:txBody>
          <a:bodyPr wrap="square" rtlCol="0">
            <a:spAutoFit/>
          </a:bodyPr>
          <a:lstStyle/>
          <a:p>
            <a:pPr algn="just"/>
            <a:r>
              <a:rPr lang="es-MX" sz="2400" dirty="0"/>
              <a:t>Es empleado para representar la solución de un algoritmo empleando figuras geométricas, donde cada una de ellas representa en particular una tarea especifica que realizar.  </a:t>
            </a:r>
          </a:p>
          <a:p>
            <a:pPr algn="just"/>
            <a:endParaRPr lang="es-MX" sz="2400" dirty="0"/>
          </a:p>
          <a:p>
            <a:pPr algn="just"/>
            <a:r>
              <a:rPr lang="es-MX" sz="2400" dirty="0"/>
              <a:t>Las más comunes son:</a:t>
            </a:r>
          </a:p>
        </p:txBody>
      </p:sp>
    </p:spTree>
    <p:extLst>
      <p:ext uri="{BB962C8B-B14F-4D97-AF65-F5344CB8AC3E}">
        <p14:creationId xmlns:p14="http://schemas.microsoft.com/office/powerpoint/2010/main" val="1866967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61"/>
          <p:cNvGraphicFramePr>
            <a:graphicFrameLocks/>
          </p:cNvGraphicFramePr>
          <p:nvPr>
            <p:extLst>
              <p:ext uri="{D42A27DB-BD31-4B8C-83A1-F6EECF244321}">
                <p14:modId xmlns:p14="http://schemas.microsoft.com/office/powerpoint/2010/main" val="1599695703"/>
              </p:ext>
            </p:extLst>
          </p:nvPr>
        </p:nvGraphicFramePr>
        <p:xfrm>
          <a:off x="609600" y="332656"/>
          <a:ext cx="7772400" cy="5692474"/>
        </p:xfrm>
        <a:graphic>
          <a:graphicData uri="http://schemas.openxmlformats.org/drawingml/2006/table">
            <a:tbl>
              <a:tblPr/>
              <a:tblGrid>
                <a:gridCol w="2450232">
                  <a:extLst>
                    <a:ext uri="{9D8B030D-6E8A-4147-A177-3AD203B41FA5}">
                      <a16:colId xmlns:a16="http://schemas.microsoft.com/office/drawing/2014/main" val="20000"/>
                    </a:ext>
                  </a:extLst>
                </a:gridCol>
                <a:gridCol w="5322168">
                  <a:extLst>
                    <a:ext uri="{9D8B030D-6E8A-4147-A177-3AD203B41FA5}">
                      <a16:colId xmlns:a16="http://schemas.microsoft.com/office/drawing/2014/main" val="20001"/>
                    </a:ext>
                  </a:extLst>
                </a:gridCol>
              </a:tblGrid>
              <a:tr h="46039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SIMBOLO</a:t>
                      </a:r>
                      <a:endParaRPr kumimoji="0" lang="es-ES" sz="2000" b="1" i="0" u="none" strike="noStrike" cap="none" normalizeH="0" baseline="0" dirty="0">
                        <a:ln>
                          <a:noFill/>
                        </a:ln>
                        <a:solidFill>
                          <a:schemeClr val="tx1"/>
                        </a:solidFill>
                        <a:effectLst/>
                        <a:latin typeface="Verdan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UTILIDAD</a:t>
                      </a:r>
                      <a:endParaRPr kumimoji="0" lang="es-ES" sz="2000" b="1" i="0" u="none" strike="noStrike" cap="none" normalizeH="0" baseline="0" dirty="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33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800" b="0" i="0" u="none" strike="noStrike" cap="none" normalizeH="0" baseline="0" dirty="0">
                          <a:ln>
                            <a:noFill/>
                          </a:ln>
                          <a:solidFill>
                            <a:schemeClr val="tx1"/>
                          </a:solidFill>
                          <a:effectLst/>
                          <a:latin typeface="Arial" charset="0"/>
                          <a:cs typeface="Times New Roman" pitchFamily="18" charset="0"/>
                        </a:rPr>
                        <a:t>El rectángulo se utiliza para identificar las acciones a realizar, es decir, este símbolo indica el </a:t>
                      </a:r>
                      <a:r>
                        <a:rPr kumimoji="0" lang="es-MX" sz="2800" b="0" i="1" u="none" strike="noStrike" cap="none" normalizeH="0" baseline="0" dirty="0">
                          <a:ln>
                            <a:noFill/>
                          </a:ln>
                          <a:solidFill>
                            <a:schemeClr val="accent6">
                              <a:lumMod val="75000"/>
                            </a:schemeClr>
                          </a:solidFill>
                          <a:effectLst/>
                          <a:latin typeface="Arial" charset="0"/>
                          <a:cs typeface="Times New Roman" pitchFamily="18" charset="0"/>
                        </a:rPr>
                        <a:t>proceso</a:t>
                      </a:r>
                      <a:r>
                        <a:rPr kumimoji="0" lang="es-MX" sz="2800" b="0" i="0" u="none" strike="noStrike" cap="none" normalizeH="0" baseline="0" dirty="0">
                          <a:ln>
                            <a:noFill/>
                          </a:ln>
                          <a:solidFill>
                            <a:schemeClr val="tx1"/>
                          </a:solidFill>
                          <a:effectLst/>
                          <a:latin typeface="Arial" charset="0"/>
                          <a:cs typeface="Times New Roman" pitchFamily="18" charset="0"/>
                        </a:rPr>
                        <a:t> a realizar</a:t>
                      </a:r>
                      <a:r>
                        <a:rPr kumimoji="0" lang="es-ES" sz="2800" b="0" i="0" u="none" strike="noStrike" cap="none" normalizeH="0" baseline="0" dirty="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0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800" b="0" i="0" u="none" strike="noStrike" cap="none" normalizeH="0" baseline="0" dirty="0">
                          <a:ln>
                            <a:noFill/>
                          </a:ln>
                          <a:solidFill>
                            <a:schemeClr val="tx1"/>
                          </a:solidFill>
                          <a:effectLst/>
                          <a:latin typeface="Arial" charset="0"/>
                        </a:rPr>
                        <a:t>El trapezoide, indica la </a:t>
                      </a:r>
                      <a:r>
                        <a:rPr kumimoji="0" lang="es-MX" sz="2800" b="0" i="1" u="none" strike="noStrike" kern="1200" cap="none" normalizeH="0" baseline="0" dirty="0">
                          <a:ln>
                            <a:noFill/>
                          </a:ln>
                          <a:solidFill>
                            <a:schemeClr val="accent6">
                              <a:lumMod val="75000"/>
                            </a:schemeClr>
                          </a:solidFill>
                          <a:effectLst/>
                          <a:latin typeface="Arial" charset="0"/>
                          <a:ea typeface="+mn-ea"/>
                          <a:cs typeface="Times New Roman" pitchFamily="18" charset="0"/>
                        </a:rPr>
                        <a:t>entrada</a:t>
                      </a:r>
                      <a:r>
                        <a:rPr kumimoji="0" lang="es-MX" sz="2800" b="0" i="0" u="none" strike="noStrike" cap="none" normalizeH="0" baseline="0" dirty="0">
                          <a:ln>
                            <a:noFill/>
                          </a:ln>
                          <a:solidFill>
                            <a:schemeClr val="tx1"/>
                          </a:solidFill>
                          <a:effectLst/>
                          <a:latin typeface="Arial" charset="0"/>
                        </a:rPr>
                        <a:t> o </a:t>
                      </a:r>
                      <a:r>
                        <a:rPr kumimoji="0" lang="es-MX" sz="2800" b="0" i="1" u="none" strike="noStrike" kern="1200" cap="none" normalizeH="0" baseline="0" dirty="0">
                          <a:ln>
                            <a:noFill/>
                          </a:ln>
                          <a:solidFill>
                            <a:schemeClr val="accent6">
                              <a:lumMod val="75000"/>
                            </a:schemeClr>
                          </a:solidFill>
                          <a:effectLst/>
                          <a:latin typeface="Arial" charset="0"/>
                          <a:ea typeface="+mn-ea"/>
                          <a:cs typeface="Times New Roman" pitchFamily="18" charset="0"/>
                        </a:rPr>
                        <a:t>lectura</a:t>
                      </a:r>
                      <a:r>
                        <a:rPr kumimoji="0" lang="es-MX" sz="2800" b="0" i="0" u="none" strike="noStrike" cap="none" normalizeH="0" baseline="0" dirty="0">
                          <a:ln>
                            <a:noFill/>
                          </a:ln>
                          <a:solidFill>
                            <a:schemeClr val="tx1"/>
                          </a:solidFill>
                          <a:effectLst/>
                          <a:latin typeface="Arial" charset="0"/>
                        </a:rPr>
                        <a:t> de los datos</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55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800" b="0" i="0" u="none" strike="noStrike" cap="none" normalizeH="0" baseline="0" dirty="0">
                          <a:ln>
                            <a:noFill/>
                          </a:ln>
                          <a:solidFill>
                            <a:schemeClr val="tx1"/>
                          </a:solidFill>
                          <a:effectLst/>
                          <a:latin typeface="Arial" charset="0"/>
                        </a:rPr>
                        <a:t>El rombo, es la </a:t>
                      </a:r>
                      <a:r>
                        <a:rPr kumimoji="0" lang="es-MX" sz="2800" b="0" i="1" u="none" strike="noStrike" kern="1200" cap="none" normalizeH="0" baseline="0" dirty="0">
                          <a:ln>
                            <a:noFill/>
                          </a:ln>
                          <a:solidFill>
                            <a:schemeClr val="accent6">
                              <a:lumMod val="75000"/>
                            </a:schemeClr>
                          </a:solidFill>
                          <a:effectLst/>
                          <a:latin typeface="Arial" charset="0"/>
                          <a:ea typeface="+mn-ea"/>
                          <a:cs typeface="Times New Roman" pitchFamily="18" charset="0"/>
                        </a:rPr>
                        <a:t>caja de decisiones</a:t>
                      </a:r>
                      <a:r>
                        <a:rPr kumimoji="0" lang="es-MX" sz="2800" b="0" i="0" u="none" strike="noStrike" cap="none" normalizeH="0" baseline="0" dirty="0">
                          <a:ln>
                            <a:noFill/>
                          </a:ln>
                          <a:solidFill>
                            <a:schemeClr val="tx1"/>
                          </a:solidFill>
                          <a:effectLst/>
                          <a:latin typeface="Arial" charset="0"/>
                        </a:rPr>
                        <a:t>, representa las alternativas con solo dos posibles opciones </a:t>
                      </a:r>
                      <a:r>
                        <a:rPr kumimoji="0" lang="es-MX" sz="2800" b="0" i="1" u="none" strike="noStrike" kern="1200" cap="none" normalizeH="0" baseline="0" dirty="0">
                          <a:ln>
                            <a:noFill/>
                          </a:ln>
                          <a:solidFill>
                            <a:schemeClr val="accent6">
                              <a:lumMod val="75000"/>
                            </a:schemeClr>
                          </a:solidFill>
                          <a:effectLst/>
                          <a:latin typeface="Arial" charset="0"/>
                          <a:ea typeface="+mn-ea"/>
                          <a:cs typeface="Times New Roman" pitchFamily="18" charset="0"/>
                        </a:rPr>
                        <a:t>SI y NO </a:t>
                      </a:r>
                      <a:endParaRPr kumimoji="0" lang="es-ES" sz="2800" b="0" i="1" u="none" strike="noStrike" kern="1200" cap="none" normalizeH="0" baseline="0" dirty="0">
                        <a:ln>
                          <a:noFill/>
                        </a:ln>
                        <a:solidFill>
                          <a:schemeClr val="accent6">
                            <a:lumMod val="75000"/>
                          </a:schemeClr>
                        </a:solidFill>
                        <a:effectLst/>
                        <a:latin typeface="Arial" charset="0"/>
                        <a:ea typeface="+mn-ea"/>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Rectangle 42"/>
          <p:cNvSpPr>
            <a:spLocks noChangeArrowheads="1"/>
          </p:cNvSpPr>
          <p:nvPr/>
        </p:nvSpPr>
        <p:spPr bwMode="auto">
          <a:xfrm>
            <a:off x="1331001" y="1484784"/>
            <a:ext cx="1066800" cy="457200"/>
          </a:xfrm>
          <a:prstGeom prst="rect">
            <a:avLst/>
          </a:prstGeom>
          <a:solidFill>
            <a:srgbClr val="FFFFFF"/>
          </a:solidFill>
          <a:ln w="9525">
            <a:solidFill>
              <a:srgbClr val="000000"/>
            </a:solidFill>
            <a:miter lim="800000"/>
            <a:headEnd/>
            <a:tailEnd/>
          </a:ln>
        </p:spPr>
        <p:txBody>
          <a:bodyPr/>
          <a:lstStyle/>
          <a:p>
            <a:endParaRPr lang="es-MX"/>
          </a:p>
        </p:txBody>
      </p:sp>
      <p:grpSp>
        <p:nvGrpSpPr>
          <p:cNvPr id="11" name="10 Grupo"/>
          <p:cNvGrpSpPr/>
          <p:nvPr/>
        </p:nvGrpSpPr>
        <p:grpSpPr>
          <a:xfrm>
            <a:off x="1042523" y="4716411"/>
            <a:ext cx="1657269" cy="563563"/>
            <a:chOff x="1186731" y="5445224"/>
            <a:chExt cx="1657269" cy="563563"/>
          </a:xfrm>
        </p:grpSpPr>
        <p:sp>
          <p:nvSpPr>
            <p:cNvPr id="7" name="AutoShape 44"/>
            <p:cNvSpPr>
              <a:spLocks noChangeArrowheads="1"/>
            </p:cNvSpPr>
            <p:nvPr/>
          </p:nvSpPr>
          <p:spPr bwMode="auto">
            <a:xfrm>
              <a:off x="1447800" y="5445224"/>
              <a:ext cx="1073150" cy="563563"/>
            </a:xfrm>
            <a:prstGeom prst="flowChartDecision">
              <a:avLst/>
            </a:prstGeom>
            <a:solidFill>
              <a:srgbClr val="FFFFFF"/>
            </a:solidFill>
            <a:ln w="9525">
              <a:solidFill>
                <a:srgbClr val="000000"/>
              </a:solidFill>
              <a:miter lim="800000"/>
              <a:headEnd/>
              <a:tailEnd/>
            </a:ln>
          </p:spPr>
          <p:txBody>
            <a:bodyPr/>
            <a:lstStyle/>
            <a:p>
              <a:endParaRPr lang="es-MX"/>
            </a:p>
          </p:txBody>
        </p:sp>
        <p:sp>
          <p:nvSpPr>
            <p:cNvPr id="8" name="Line 72"/>
            <p:cNvSpPr>
              <a:spLocks noChangeShapeType="1"/>
            </p:cNvSpPr>
            <p:nvPr/>
          </p:nvSpPr>
          <p:spPr bwMode="auto">
            <a:xfrm>
              <a:off x="2520000" y="5727908"/>
              <a:ext cx="324000" cy="0"/>
            </a:xfrm>
            <a:prstGeom prst="line">
              <a:avLst/>
            </a:prstGeom>
            <a:noFill/>
            <a:ln w="9525">
              <a:solidFill>
                <a:schemeClr val="tx1"/>
              </a:solidFill>
              <a:round/>
              <a:headEnd/>
              <a:tailEnd/>
            </a:ln>
            <a:effectLst/>
          </p:spPr>
          <p:txBody>
            <a:bodyPr wrap="none"/>
            <a:lstStyle/>
            <a:p>
              <a:endParaRPr lang="es-MX"/>
            </a:p>
          </p:txBody>
        </p:sp>
        <p:sp>
          <p:nvSpPr>
            <p:cNvPr id="9" name="Line 74"/>
            <p:cNvSpPr>
              <a:spLocks noChangeShapeType="1"/>
            </p:cNvSpPr>
            <p:nvPr/>
          </p:nvSpPr>
          <p:spPr bwMode="auto">
            <a:xfrm flipH="1">
              <a:off x="1186731" y="5733256"/>
              <a:ext cx="288925" cy="0"/>
            </a:xfrm>
            <a:prstGeom prst="line">
              <a:avLst/>
            </a:prstGeom>
            <a:noFill/>
            <a:ln w="9525">
              <a:solidFill>
                <a:schemeClr val="tx1"/>
              </a:solidFill>
              <a:round/>
              <a:headEnd/>
              <a:tailEnd/>
            </a:ln>
            <a:effectLst/>
          </p:spPr>
          <p:txBody>
            <a:bodyPr wrap="none"/>
            <a:lstStyle/>
            <a:p>
              <a:endParaRPr lang="es-MX"/>
            </a:p>
          </p:txBody>
        </p:sp>
      </p:grpSp>
      <p:sp>
        <p:nvSpPr>
          <p:cNvPr id="10" name="AutoShape 43"/>
          <p:cNvSpPr>
            <a:spLocks noChangeArrowheads="1"/>
          </p:cNvSpPr>
          <p:nvPr/>
        </p:nvSpPr>
        <p:spPr bwMode="auto">
          <a:xfrm>
            <a:off x="2029954" y="3044355"/>
            <a:ext cx="996950" cy="671513"/>
          </a:xfrm>
          <a:prstGeom prst="flowChartManualInput">
            <a:avLst/>
          </a:prstGeom>
          <a:solidFill>
            <a:srgbClr val="FFFFFF"/>
          </a:solidFill>
          <a:ln w="9525">
            <a:solidFill>
              <a:srgbClr val="000000"/>
            </a:solidFill>
            <a:miter lim="800000"/>
            <a:headEnd/>
            <a:tailEnd/>
          </a:ln>
        </p:spPr>
        <p:txBody>
          <a:bodyPr/>
          <a:lstStyle/>
          <a:p>
            <a:endParaRPr lang="es-MX" dirty="0"/>
          </a:p>
        </p:txBody>
      </p:sp>
      <p:sp>
        <p:nvSpPr>
          <p:cNvPr id="2" name="Diagrama de flujo: datos 1">
            <a:extLst>
              <a:ext uri="{FF2B5EF4-FFF2-40B4-BE49-F238E27FC236}">
                <a16:creationId xmlns:a16="http://schemas.microsoft.com/office/drawing/2014/main" id="{89807828-FD77-0069-3AB4-E33C179A4BC4}"/>
              </a:ext>
            </a:extLst>
          </p:cNvPr>
          <p:cNvSpPr/>
          <p:nvPr/>
        </p:nvSpPr>
        <p:spPr>
          <a:xfrm>
            <a:off x="609600" y="3084046"/>
            <a:ext cx="1440160" cy="608925"/>
          </a:xfrm>
          <a:prstGeom prst="flowChartInputOutpu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96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4)">
                                      <p:cBhvr>
                                        <p:cTn id="7" dur="2000"/>
                                        <p:tgtEl>
                                          <p:spTgt spid="3"/>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heel(4)">
                                      <p:cBhvr>
                                        <p:cTn id="10" dur="2000"/>
                                        <p:tgtEl>
                                          <p:spTgt spid="4"/>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heel(4)">
                                      <p:cBhvr>
                                        <p:cTn id="13"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6"/>
          <p:cNvGraphicFramePr>
            <a:graphicFrameLocks/>
          </p:cNvGraphicFramePr>
          <p:nvPr>
            <p:extLst>
              <p:ext uri="{D42A27DB-BD31-4B8C-83A1-F6EECF244321}">
                <p14:modId xmlns:p14="http://schemas.microsoft.com/office/powerpoint/2010/main" val="36932150"/>
              </p:ext>
            </p:extLst>
          </p:nvPr>
        </p:nvGraphicFramePr>
        <p:xfrm>
          <a:off x="467544" y="692696"/>
          <a:ext cx="8351838" cy="4916760"/>
        </p:xfrm>
        <a:graphic>
          <a:graphicData uri="http://schemas.openxmlformats.org/drawingml/2006/table">
            <a:tbl>
              <a:tblPr/>
              <a:tblGrid>
                <a:gridCol w="2482850">
                  <a:extLst>
                    <a:ext uri="{9D8B030D-6E8A-4147-A177-3AD203B41FA5}">
                      <a16:colId xmlns:a16="http://schemas.microsoft.com/office/drawing/2014/main" val="20000"/>
                    </a:ext>
                  </a:extLst>
                </a:gridCol>
                <a:gridCol w="5868988">
                  <a:extLst>
                    <a:ext uri="{9D8B030D-6E8A-4147-A177-3AD203B41FA5}">
                      <a16:colId xmlns:a16="http://schemas.microsoft.com/office/drawing/2014/main" val="20001"/>
                    </a:ext>
                  </a:extLst>
                </a:gridCol>
              </a:tblGrid>
              <a:tr h="4320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SIMBOLO</a:t>
                      </a:r>
                      <a:endParaRPr kumimoji="0" lang="es-ES" sz="2000" b="1" i="0" u="none" strike="noStrike" cap="none" normalizeH="0" baseline="0" dirty="0">
                        <a:ln>
                          <a:noFill/>
                        </a:ln>
                        <a:solidFill>
                          <a:schemeClr val="tx1"/>
                        </a:solidFill>
                        <a:effectLst/>
                        <a:latin typeface="Verdan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UTILIDAD</a:t>
                      </a:r>
                      <a:endParaRPr kumimoji="0" lang="es-ES" sz="2000" b="1" i="0" u="none" strike="noStrike" cap="none" normalizeH="0" baseline="0" dirty="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35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Los círculos, son utilizados para indicar el </a:t>
                      </a:r>
                      <a:r>
                        <a:rPr kumimoji="0" lang="es-MX" sz="2600" b="1" i="0" u="none" strike="noStrike" kern="1200" cap="none" normalizeH="0" baseline="0" dirty="0">
                          <a:ln>
                            <a:noFill/>
                          </a:ln>
                          <a:solidFill>
                            <a:schemeClr val="accent6">
                              <a:lumMod val="75000"/>
                            </a:schemeClr>
                          </a:solidFill>
                          <a:effectLst/>
                          <a:latin typeface="Arial" charset="0"/>
                          <a:ea typeface="+mn-ea"/>
                          <a:cs typeface="Times New Roman" pitchFamily="18" charset="0"/>
                        </a:rPr>
                        <a:t>inicio</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 y el </a:t>
                      </a:r>
                      <a:r>
                        <a:rPr kumimoji="0" lang="es-MX" sz="2600" b="1" i="0" u="none" strike="noStrike" kern="1200" cap="none" normalizeH="0" baseline="0" dirty="0">
                          <a:ln>
                            <a:noFill/>
                          </a:ln>
                          <a:solidFill>
                            <a:schemeClr val="accent6">
                              <a:lumMod val="75000"/>
                            </a:schemeClr>
                          </a:solidFill>
                          <a:effectLst/>
                          <a:latin typeface="Arial" charset="0"/>
                          <a:ea typeface="+mn-ea"/>
                          <a:cs typeface="Times New Roman" pitchFamily="18" charset="0"/>
                        </a:rPr>
                        <a:t>final</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 del algoritmo</a:t>
                      </a:r>
                      <a:r>
                        <a:rPr kumimoji="0" lang="es-ES" sz="2600" b="0" i="0" u="none" strike="noStrike" kern="1200" cap="none" normalizeH="0" baseline="0" dirty="0">
                          <a:ln>
                            <a:noFill/>
                          </a:ln>
                          <a:solidFill>
                            <a:schemeClr val="tx1"/>
                          </a:solidFill>
                          <a:effectLst/>
                          <a:latin typeface="Arial" charset="0"/>
                          <a:ea typeface="+mn-ea"/>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19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El cono se utiliza para indicar una </a:t>
                      </a:r>
                      <a:r>
                        <a:rPr kumimoji="0" lang="es-MX" sz="2600" b="1" i="0" u="none" strike="noStrike" kern="1200" cap="none" normalizeH="0" baseline="0" dirty="0">
                          <a:ln>
                            <a:noFill/>
                          </a:ln>
                          <a:solidFill>
                            <a:srgbClr val="FFC000"/>
                          </a:solidFill>
                          <a:effectLst/>
                          <a:latin typeface="Arial" charset="0"/>
                          <a:ea typeface="+mn-ea"/>
                          <a:cs typeface="Times New Roman" pitchFamily="18" charset="0"/>
                        </a:rPr>
                        <a:t>Salida</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a:t>
                      </a:r>
                      <a:r>
                        <a:rPr kumimoji="0" lang="es-MX" sz="2600" b="1" i="0" u="none" strike="noStrike" kern="1200" cap="none" normalizeH="0" baseline="0" dirty="0">
                          <a:ln>
                            <a:noFill/>
                          </a:ln>
                          <a:solidFill>
                            <a:schemeClr val="accent6">
                              <a:lumMod val="75000"/>
                            </a:schemeClr>
                          </a:solidFill>
                          <a:effectLst/>
                          <a:latin typeface="Arial" charset="0"/>
                          <a:ea typeface="+mn-ea"/>
                          <a:cs typeface="Times New Roman" pitchFamily="18" charset="0"/>
                        </a:rPr>
                        <a:t>salida en pantalla</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a:t>
                      </a:r>
                      <a:endParaRPr kumimoji="0" lang="es-ES" sz="2600" b="0" i="0" u="none" strike="noStrike" kern="1200" cap="none" normalizeH="0" baseline="0" dirty="0">
                        <a:ln>
                          <a:noFill/>
                        </a:ln>
                        <a:solidFill>
                          <a:schemeClr val="tx1"/>
                        </a:solidFill>
                        <a:effectLst/>
                        <a:latin typeface="Arial" charset="0"/>
                        <a:ea typeface="+mn-ea"/>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88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La flecha, indica </a:t>
                      </a:r>
                      <a:r>
                        <a:rPr kumimoji="0" lang="es-MX" sz="2600" b="1" i="0" u="none" strike="noStrike" kern="1200" cap="none" normalizeH="0" baseline="0" dirty="0">
                          <a:ln>
                            <a:noFill/>
                          </a:ln>
                          <a:solidFill>
                            <a:schemeClr val="accent6">
                              <a:lumMod val="75000"/>
                            </a:schemeClr>
                          </a:solidFill>
                          <a:effectLst/>
                          <a:latin typeface="Arial" charset="0"/>
                          <a:ea typeface="+mn-ea"/>
                          <a:cs typeface="Times New Roman" pitchFamily="18" charset="0"/>
                        </a:rPr>
                        <a:t>la secuencia de acciones a realizar</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 es decir, es quien marca la continuidad y orden de ejecución de las acciones propias del problema a resolver.</a:t>
                      </a:r>
                      <a:endParaRPr kumimoji="0" lang="es-ES" sz="2600" b="0" i="0" u="none" strike="noStrike" kern="1200" cap="none" normalizeH="0" baseline="0" dirty="0">
                        <a:ln>
                          <a:noFill/>
                        </a:ln>
                        <a:solidFill>
                          <a:schemeClr val="tx1"/>
                        </a:solidFill>
                        <a:effectLst/>
                        <a:latin typeface="Arial" charset="0"/>
                        <a:ea typeface="+mn-ea"/>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4 Elipse"/>
          <p:cNvSpPr/>
          <p:nvPr/>
        </p:nvSpPr>
        <p:spPr>
          <a:xfrm>
            <a:off x="1849499" y="1380634"/>
            <a:ext cx="1008112" cy="864096"/>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9" name="8 Grupo"/>
          <p:cNvGrpSpPr/>
          <p:nvPr/>
        </p:nvGrpSpPr>
        <p:grpSpPr>
          <a:xfrm>
            <a:off x="1619672" y="2492896"/>
            <a:ext cx="1237939" cy="945474"/>
            <a:chOff x="827585" y="3427606"/>
            <a:chExt cx="1296143" cy="937498"/>
          </a:xfrm>
        </p:grpSpPr>
        <p:sp>
          <p:nvSpPr>
            <p:cNvPr id="7" name="Oval 137"/>
            <p:cNvSpPr>
              <a:spLocks noChangeArrowheads="1"/>
            </p:cNvSpPr>
            <p:nvPr/>
          </p:nvSpPr>
          <p:spPr bwMode="auto">
            <a:xfrm>
              <a:off x="1850316" y="3427606"/>
              <a:ext cx="273412" cy="937498"/>
            </a:xfrm>
            <a:prstGeom prst="ellipse">
              <a:avLst/>
            </a:prstGeom>
            <a:solidFill>
              <a:srgbClr val="FFFFFF"/>
            </a:solidFill>
            <a:ln w="9525">
              <a:solidFill>
                <a:srgbClr val="000000"/>
              </a:solidFill>
              <a:round/>
              <a:headEnd/>
              <a:tailEnd/>
            </a:ln>
          </p:spPr>
          <p:txBody>
            <a:bodyPr/>
            <a:lstStyle/>
            <a:p>
              <a:endParaRPr lang="es-MX"/>
            </a:p>
          </p:txBody>
        </p:sp>
        <p:sp>
          <p:nvSpPr>
            <p:cNvPr id="8" name="Freeform 138"/>
            <p:cNvSpPr>
              <a:spLocks/>
            </p:cNvSpPr>
            <p:nvPr/>
          </p:nvSpPr>
          <p:spPr bwMode="auto">
            <a:xfrm>
              <a:off x="827585" y="3429000"/>
              <a:ext cx="1152128" cy="936104"/>
            </a:xfrm>
            <a:custGeom>
              <a:avLst/>
              <a:gdLst/>
              <a:ahLst/>
              <a:cxnLst>
                <a:cxn ang="0">
                  <a:pos x="1620" y="0"/>
                </a:cxn>
                <a:cxn ang="0">
                  <a:pos x="0" y="720"/>
                </a:cxn>
                <a:cxn ang="0">
                  <a:pos x="1620" y="1080"/>
                </a:cxn>
              </a:cxnLst>
              <a:rect l="0" t="0" r="r" b="b"/>
              <a:pathLst>
                <a:path w="1620" h="1080">
                  <a:moveTo>
                    <a:pt x="1620" y="0"/>
                  </a:moveTo>
                  <a:lnTo>
                    <a:pt x="0" y="720"/>
                  </a:lnTo>
                  <a:lnTo>
                    <a:pt x="1620" y="1080"/>
                  </a:lnTo>
                </a:path>
              </a:pathLst>
            </a:custGeom>
            <a:solidFill>
              <a:srgbClr val="FFFFFF"/>
            </a:solidFill>
            <a:ln w="9525">
              <a:solidFill>
                <a:srgbClr val="000000"/>
              </a:solidFill>
              <a:round/>
              <a:headEnd/>
              <a:tailEnd/>
            </a:ln>
          </p:spPr>
          <p:txBody>
            <a:bodyPr/>
            <a:lstStyle/>
            <a:p>
              <a:endParaRPr lang="es-MX"/>
            </a:p>
          </p:txBody>
        </p:sp>
      </p:grpSp>
      <p:sp>
        <p:nvSpPr>
          <p:cNvPr id="10" name="Line 1036"/>
          <p:cNvSpPr>
            <a:spLocks noChangeShapeType="1"/>
          </p:cNvSpPr>
          <p:nvPr/>
        </p:nvSpPr>
        <p:spPr bwMode="auto">
          <a:xfrm>
            <a:off x="1763688" y="3865984"/>
            <a:ext cx="0" cy="1219200"/>
          </a:xfrm>
          <a:prstGeom prst="line">
            <a:avLst/>
          </a:prstGeom>
          <a:noFill/>
          <a:ln w="76200">
            <a:solidFill>
              <a:schemeClr val="tx1"/>
            </a:solidFill>
            <a:round/>
            <a:headEnd/>
            <a:tailEnd type="triangle" w="med" len="med"/>
          </a:ln>
          <a:effectLst/>
        </p:spPr>
        <p:txBody>
          <a:bodyPr wrap="none"/>
          <a:lstStyle/>
          <a:p>
            <a:endParaRPr lang="es-MX"/>
          </a:p>
        </p:txBody>
      </p:sp>
      <p:sp>
        <p:nvSpPr>
          <p:cNvPr id="2" name="Diagrama de flujo: terminador 1">
            <a:extLst>
              <a:ext uri="{FF2B5EF4-FFF2-40B4-BE49-F238E27FC236}">
                <a16:creationId xmlns:a16="http://schemas.microsoft.com/office/drawing/2014/main" id="{43D75B48-ACFF-E101-97A3-80C39A9826BF}"/>
              </a:ext>
            </a:extLst>
          </p:cNvPr>
          <p:cNvSpPr/>
          <p:nvPr/>
        </p:nvSpPr>
        <p:spPr>
          <a:xfrm>
            <a:off x="618462" y="1550402"/>
            <a:ext cx="1080120" cy="511780"/>
          </a:xfrm>
          <a:prstGeom prst="flowChartTerminator">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Diagrama de flujo: datos 2">
            <a:extLst>
              <a:ext uri="{FF2B5EF4-FFF2-40B4-BE49-F238E27FC236}">
                <a16:creationId xmlns:a16="http://schemas.microsoft.com/office/drawing/2014/main" id="{E760F8A6-907B-9A5A-EB05-EE780AA80097}"/>
              </a:ext>
            </a:extLst>
          </p:cNvPr>
          <p:cNvSpPr/>
          <p:nvPr/>
        </p:nvSpPr>
        <p:spPr>
          <a:xfrm>
            <a:off x="438442" y="2665158"/>
            <a:ext cx="1260140" cy="608925"/>
          </a:xfrm>
          <a:prstGeom prst="flowChartInputOutpu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96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76"/>
          <p:cNvGraphicFramePr>
            <a:graphicFrameLocks/>
          </p:cNvGraphicFramePr>
          <p:nvPr>
            <p:extLst>
              <p:ext uri="{D42A27DB-BD31-4B8C-83A1-F6EECF244321}">
                <p14:modId xmlns:p14="http://schemas.microsoft.com/office/powerpoint/2010/main" val="3440670475"/>
              </p:ext>
            </p:extLst>
          </p:nvPr>
        </p:nvGraphicFramePr>
        <p:xfrm>
          <a:off x="467544" y="1565404"/>
          <a:ext cx="8351838" cy="1782976"/>
        </p:xfrm>
        <a:graphic>
          <a:graphicData uri="http://schemas.openxmlformats.org/drawingml/2006/table">
            <a:tbl>
              <a:tblPr/>
              <a:tblGrid>
                <a:gridCol w="2482850">
                  <a:extLst>
                    <a:ext uri="{9D8B030D-6E8A-4147-A177-3AD203B41FA5}">
                      <a16:colId xmlns:a16="http://schemas.microsoft.com/office/drawing/2014/main" val="20000"/>
                    </a:ext>
                  </a:extLst>
                </a:gridCol>
                <a:gridCol w="5868988">
                  <a:extLst>
                    <a:ext uri="{9D8B030D-6E8A-4147-A177-3AD203B41FA5}">
                      <a16:colId xmlns:a16="http://schemas.microsoft.com/office/drawing/2014/main" val="20001"/>
                    </a:ext>
                  </a:extLst>
                </a:gridCol>
              </a:tblGrid>
              <a:tr h="6394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SIMBOLO</a:t>
                      </a:r>
                      <a:endParaRPr kumimoji="0" lang="es-ES" sz="2000" b="1" i="0" u="none" strike="noStrike" cap="none" normalizeH="0" baseline="0" dirty="0">
                        <a:ln>
                          <a:noFill/>
                        </a:ln>
                        <a:solidFill>
                          <a:schemeClr val="tx1"/>
                        </a:solidFill>
                        <a:effectLst/>
                        <a:latin typeface="Verdan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2000" b="1" i="0" u="none" strike="noStrike" cap="none" normalizeH="0" baseline="0" dirty="0">
                          <a:ln>
                            <a:noFill/>
                          </a:ln>
                          <a:solidFill>
                            <a:schemeClr val="tx1"/>
                          </a:solidFill>
                          <a:effectLst/>
                          <a:latin typeface="Verdana" pitchFamily="34" charset="0"/>
                        </a:rPr>
                        <a:t>UTILIDAD</a:t>
                      </a:r>
                      <a:endParaRPr kumimoji="0" lang="es-ES" sz="2000" b="1" i="0" u="none" strike="noStrike" cap="none" normalizeH="0" baseline="0" dirty="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35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Representa la </a:t>
                      </a:r>
                      <a:r>
                        <a:rPr kumimoji="0" lang="es-MX" sz="2600" b="1" i="0" u="none" strike="noStrike" kern="1200" cap="none" normalizeH="0" baseline="0" dirty="0">
                          <a:ln>
                            <a:noFill/>
                          </a:ln>
                          <a:solidFill>
                            <a:schemeClr val="accent6">
                              <a:lumMod val="75000"/>
                            </a:schemeClr>
                          </a:solidFill>
                          <a:effectLst/>
                          <a:latin typeface="Arial" charset="0"/>
                          <a:ea typeface="+mn-ea"/>
                          <a:cs typeface="Times New Roman" pitchFamily="18" charset="0"/>
                        </a:rPr>
                        <a:t>repetición</a:t>
                      </a:r>
                      <a:r>
                        <a:rPr kumimoji="0" lang="es-MX" sz="2600" b="0" i="0" u="none" strike="noStrike" kern="1200" cap="none" normalizeH="0" baseline="0" dirty="0">
                          <a:ln>
                            <a:noFill/>
                          </a:ln>
                          <a:solidFill>
                            <a:schemeClr val="tx1"/>
                          </a:solidFill>
                          <a:effectLst/>
                          <a:latin typeface="Arial" charset="0"/>
                          <a:ea typeface="+mn-ea"/>
                          <a:cs typeface="Times New Roman" pitchFamily="18" charset="0"/>
                        </a:rPr>
                        <a:t> de pasos a a través de los ciclos</a:t>
                      </a:r>
                      <a:endParaRPr kumimoji="0" lang="es-ES" sz="2600" b="0" i="0" u="none" strike="noStrike" kern="1200" cap="none" normalizeH="0" baseline="0" dirty="0">
                        <a:ln>
                          <a:noFill/>
                        </a:ln>
                        <a:solidFill>
                          <a:schemeClr val="tx1"/>
                        </a:solidFill>
                        <a:effectLst/>
                        <a:latin typeface="Arial" charset="0"/>
                        <a:ea typeface="+mn-ea"/>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4 Forma libre"/>
          <p:cNvSpPr/>
          <p:nvPr/>
        </p:nvSpPr>
        <p:spPr>
          <a:xfrm>
            <a:off x="683568" y="2564904"/>
            <a:ext cx="2088232" cy="360040"/>
          </a:xfrm>
          <a:custGeom>
            <a:avLst/>
            <a:gdLst>
              <a:gd name="connsiteX0" fmla="*/ 0 w 1368152"/>
              <a:gd name="connsiteY0" fmla="*/ 0 h 648072"/>
              <a:gd name="connsiteX1" fmla="*/ 1044116 w 1368152"/>
              <a:gd name="connsiteY1" fmla="*/ 0 h 648072"/>
              <a:gd name="connsiteX2" fmla="*/ 1368152 w 1368152"/>
              <a:gd name="connsiteY2" fmla="*/ 324036 h 648072"/>
              <a:gd name="connsiteX3" fmla="*/ 1044116 w 1368152"/>
              <a:gd name="connsiteY3" fmla="*/ 648072 h 648072"/>
              <a:gd name="connsiteX4" fmla="*/ 0 w 1368152"/>
              <a:gd name="connsiteY4" fmla="*/ 648072 h 648072"/>
              <a:gd name="connsiteX5" fmla="*/ 0 w 1368152"/>
              <a:gd name="connsiteY5" fmla="*/ 0 h 648072"/>
              <a:gd name="connsiteX0" fmla="*/ 456051 w 1824203"/>
              <a:gd name="connsiteY0" fmla="*/ 0 h 648072"/>
              <a:gd name="connsiteX1" fmla="*/ 1500167 w 1824203"/>
              <a:gd name="connsiteY1" fmla="*/ 0 h 648072"/>
              <a:gd name="connsiteX2" fmla="*/ 1824203 w 1824203"/>
              <a:gd name="connsiteY2" fmla="*/ 324036 h 648072"/>
              <a:gd name="connsiteX3" fmla="*/ 1500167 w 1824203"/>
              <a:gd name="connsiteY3" fmla="*/ 648072 h 648072"/>
              <a:gd name="connsiteX4" fmla="*/ 456051 w 1824203"/>
              <a:gd name="connsiteY4" fmla="*/ 648072 h 648072"/>
              <a:gd name="connsiteX5" fmla="*/ 0 w 1824203"/>
              <a:gd name="connsiteY5" fmla="*/ 288032 h 648072"/>
              <a:gd name="connsiteX6" fmla="*/ 456051 w 1824203"/>
              <a:gd name="connsiteY6" fmla="*/ 0 h 648072"/>
              <a:gd name="connsiteX0" fmla="*/ 390901 w 1759053"/>
              <a:gd name="connsiteY0" fmla="*/ 0 h 648072"/>
              <a:gd name="connsiteX1" fmla="*/ 1435017 w 1759053"/>
              <a:gd name="connsiteY1" fmla="*/ 0 h 648072"/>
              <a:gd name="connsiteX2" fmla="*/ 1759053 w 1759053"/>
              <a:gd name="connsiteY2" fmla="*/ 324036 h 648072"/>
              <a:gd name="connsiteX3" fmla="*/ 1435017 w 1759053"/>
              <a:gd name="connsiteY3" fmla="*/ 648072 h 648072"/>
              <a:gd name="connsiteX4" fmla="*/ 390901 w 1759053"/>
              <a:gd name="connsiteY4" fmla="*/ 648072 h 648072"/>
              <a:gd name="connsiteX5" fmla="*/ 0 w 1759053"/>
              <a:gd name="connsiteY5" fmla="*/ 288032 h 648072"/>
              <a:gd name="connsiteX6" fmla="*/ 390901 w 1759053"/>
              <a:gd name="connsiteY6" fmla="*/ 0 h 6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9053" h="648072">
                <a:moveTo>
                  <a:pt x="390901" y="0"/>
                </a:moveTo>
                <a:lnTo>
                  <a:pt x="1435017" y="0"/>
                </a:lnTo>
                <a:lnTo>
                  <a:pt x="1759053" y="324036"/>
                </a:lnTo>
                <a:lnTo>
                  <a:pt x="1435017" y="648072"/>
                </a:lnTo>
                <a:lnTo>
                  <a:pt x="390901" y="648072"/>
                </a:lnTo>
                <a:lnTo>
                  <a:pt x="0" y="288032"/>
                </a:lnTo>
                <a:lnTo>
                  <a:pt x="390901"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86696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908720"/>
            <a:ext cx="7200800" cy="553998"/>
          </a:xfrm>
          <a:prstGeom prst="rect">
            <a:avLst/>
          </a:prstGeom>
        </p:spPr>
        <p:txBody>
          <a:bodyPr wrap="square">
            <a:spAutoFit/>
          </a:bodyPr>
          <a:lstStyle/>
          <a:p>
            <a:pPr marL="457200" indent="-457200" algn="just"/>
            <a:r>
              <a:rPr lang="es-ES" sz="3000" b="1" dirty="0"/>
              <a:t>2.3.1.2 Pseudocódigo</a:t>
            </a:r>
          </a:p>
        </p:txBody>
      </p:sp>
      <p:sp>
        <p:nvSpPr>
          <p:cNvPr id="3" name="2 CuadroTexto"/>
          <p:cNvSpPr txBox="1"/>
          <p:nvPr/>
        </p:nvSpPr>
        <p:spPr>
          <a:xfrm>
            <a:off x="755576" y="1700808"/>
            <a:ext cx="7272808" cy="4585871"/>
          </a:xfrm>
          <a:prstGeom prst="rect">
            <a:avLst/>
          </a:prstGeom>
          <a:noFill/>
        </p:spPr>
        <p:txBody>
          <a:bodyPr wrap="square" rtlCol="0">
            <a:spAutoFit/>
          </a:bodyPr>
          <a:lstStyle/>
          <a:p>
            <a:pPr algn="just"/>
            <a:r>
              <a:rPr lang="es-MX" sz="2400" dirty="0"/>
              <a:t>Es empleado para representar la solución de un algoritmo empleando lenguaje natural escrito estableciendo la secuencia de pasos sin imprecisiones y de manera clara.</a:t>
            </a:r>
          </a:p>
          <a:p>
            <a:pPr algn="just"/>
            <a:endParaRPr lang="es-MX" sz="2400" dirty="0"/>
          </a:p>
          <a:p>
            <a:pPr algn="just"/>
            <a:r>
              <a:rPr lang="es-MX" sz="2800" dirty="0"/>
              <a:t>Ejemplo:</a:t>
            </a:r>
          </a:p>
          <a:p>
            <a:pPr algn="just"/>
            <a:r>
              <a:rPr lang="es-MX" sz="2400" dirty="0"/>
              <a:t>Proceso</a:t>
            </a:r>
          </a:p>
          <a:p>
            <a:pPr algn="just"/>
            <a:r>
              <a:rPr lang="es-MX" sz="2400" dirty="0"/>
              <a:t>	Leer </a:t>
            </a:r>
            <a:r>
              <a:rPr lang="es-MX" sz="2400" dirty="0" err="1"/>
              <a:t>lista_de_variables</a:t>
            </a:r>
            <a:r>
              <a:rPr lang="es-MX" sz="2400" dirty="0"/>
              <a:t>;</a:t>
            </a:r>
          </a:p>
          <a:p>
            <a:pPr algn="just"/>
            <a:r>
              <a:rPr lang="es-MX" sz="2400" dirty="0"/>
              <a:t>	variable&lt;-</a:t>
            </a:r>
            <a:r>
              <a:rPr lang="es-MX" sz="2400" dirty="0" err="1"/>
              <a:t>expresion</a:t>
            </a:r>
            <a:r>
              <a:rPr lang="es-MX" sz="2400" dirty="0"/>
              <a:t>;</a:t>
            </a:r>
          </a:p>
          <a:p>
            <a:pPr algn="just"/>
            <a:r>
              <a:rPr lang="es-MX" sz="2400" dirty="0"/>
              <a:t>	Escribir </a:t>
            </a:r>
            <a:r>
              <a:rPr lang="es-MX" sz="2400" dirty="0" err="1"/>
              <a:t>lista_de_expresiones</a:t>
            </a:r>
            <a:r>
              <a:rPr lang="es-MX" sz="2400" dirty="0"/>
              <a:t>;</a:t>
            </a:r>
          </a:p>
          <a:p>
            <a:pPr algn="just"/>
            <a:r>
              <a:rPr lang="es-MX" sz="2400" dirty="0" err="1"/>
              <a:t>FinProceso</a:t>
            </a:r>
            <a:endParaRPr lang="es-MX" sz="2400" dirty="0"/>
          </a:p>
          <a:p>
            <a:pPr algn="just"/>
            <a:endParaRPr lang="es-MX" sz="2400" dirty="0"/>
          </a:p>
        </p:txBody>
      </p:sp>
    </p:spTree>
    <p:extLst>
      <p:ext uri="{BB962C8B-B14F-4D97-AF65-F5344CB8AC3E}">
        <p14:creationId xmlns:p14="http://schemas.microsoft.com/office/powerpoint/2010/main" val="1866967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11560" y="548680"/>
            <a:ext cx="7848872" cy="1477328"/>
          </a:xfrm>
          <a:prstGeom prst="rect">
            <a:avLst/>
          </a:prstGeom>
        </p:spPr>
        <p:txBody>
          <a:bodyPr wrap="square">
            <a:spAutoFit/>
          </a:bodyPr>
          <a:lstStyle/>
          <a:p>
            <a:pPr marL="457200" indent="-457200" algn="just"/>
            <a:r>
              <a:rPr lang="es-ES" sz="3000" b="1" dirty="0"/>
              <a:t>2.3.2 </a:t>
            </a:r>
            <a:r>
              <a:rPr lang="es-MX" sz="3000" b="1" dirty="0"/>
              <a:t>Uso del Diagrama de flujo, pseudocódigo y prueba de escritorio para los tipos de estructuras</a:t>
            </a:r>
            <a:endParaRPr lang="es-ES" sz="3000" b="1" dirty="0"/>
          </a:p>
        </p:txBody>
      </p:sp>
      <p:sp>
        <p:nvSpPr>
          <p:cNvPr id="3" name="2 Rectángulo"/>
          <p:cNvSpPr/>
          <p:nvPr/>
        </p:nvSpPr>
        <p:spPr>
          <a:xfrm>
            <a:off x="683568" y="2132856"/>
            <a:ext cx="8064896" cy="1292662"/>
          </a:xfrm>
          <a:prstGeom prst="rect">
            <a:avLst/>
          </a:prstGeom>
        </p:spPr>
        <p:txBody>
          <a:bodyPr wrap="square">
            <a:spAutoFit/>
          </a:bodyPr>
          <a:lstStyle/>
          <a:p>
            <a:r>
              <a:rPr lang="es-ES" sz="2600" b="1" dirty="0"/>
              <a:t>2.3.2.1 Secuenciales</a:t>
            </a:r>
          </a:p>
          <a:p>
            <a:pPr marL="457200" indent="-457200"/>
            <a:r>
              <a:rPr lang="es-MX" sz="2600" dirty="0"/>
              <a:t>	Implica escribir un paso tras de otro, donde el primero que se haya escrito es el primero que se ejecutará.</a:t>
            </a:r>
          </a:p>
        </p:txBody>
      </p:sp>
      <p:sp>
        <p:nvSpPr>
          <p:cNvPr id="6" name="5 CuadroTexto"/>
          <p:cNvSpPr txBox="1"/>
          <p:nvPr/>
        </p:nvSpPr>
        <p:spPr>
          <a:xfrm>
            <a:off x="3851920" y="3429000"/>
            <a:ext cx="1527982" cy="2893100"/>
          </a:xfrm>
          <a:prstGeom prst="rect">
            <a:avLst/>
          </a:prstGeom>
          <a:noFill/>
        </p:spPr>
        <p:txBody>
          <a:bodyPr wrap="none" rtlCol="0">
            <a:spAutoFit/>
          </a:bodyPr>
          <a:lstStyle/>
          <a:p>
            <a:r>
              <a:rPr lang="es-MX" sz="2600" b="1" dirty="0"/>
              <a:t>Inicio</a:t>
            </a:r>
          </a:p>
          <a:p>
            <a:r>
              <a:rPr lang="es-MX" sz="2600" dirty="0"/>
              <a:t>   Acción1</a:t>
            </a:r>
          </a:p>
          <a:p>
            <a:r>
              <a:rPr lang="es-MX" sz="2600" dirty="0"/>
              <a:t>   Acción2</a:t>
            </a:r>
          </a:p>
          <a:p>
            <a:r>
              <a:rPr lang="es-MX" sz="2600" dirty="0"/>
              <a:t>   </a:t>
            </a:r>
            <a:r>
              <a:rPr lang="es-MX" sz="2000" b="1" dirty="0"/>
              <a:t>.</a:t>
            </a:r>
          </a:p>
          <a:p>
            <a:r>
              <a:rPr lang="es-MX" sz="2000" b="1" dirty="0"/>
              <a:t>    .</a:t>
            </a:r>
          </a:p>
          <a:p>
            <a:r>
              <a:rPr lang="es-MX" sz="2600" dirty="0"/>
              <a:t>   </a:t>
            </a:r>
            <a:r>
              <a:rPr lang="es-MX" sz="2600" dirty="0" err="1"/>
              <a:t>AcciónN</a:t>
            </a:r>
            <a:endParaRPr lang="es-MX" sz="2600" dirty="0"/>
          </a:p>
          <a:p>
            <a:r>
              <a:rPr lang="es-MX" sz="2600" b="1" dirty="0"/>
              <a:t>Fin</a:t>
            </a:r>
          </a:p>
        </p:txBody>
      </p:sp>
    </p:spTree>
    <p:extLst>
      <p:ext uri="{BB962C8B-B14F-4D97-AF65-F5344CB8AC3E}">
        <p14:creationId xmlns:p14="http://schemas.microsoft.com/office/powerpoint/2010/main" val="186696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755576" y="476672"/>
            <a:ext cx="8064896" cy="892552"/>
          </a:xfrm>
          <a:prstGeom prst="rect">
            <a:avLst/>
          </a:prstGeom>
        </p:spPr>
        <p:txBody>
          <a:bodyPr wrap="square">
            <a:spAutoFit/>
          </a:bodyPr>
          <a:lstStyle/>
          <a:p>
            <a:r>
              <a:rPr lang="es-ES" sz="2600" b="1" dirty="0"/>
              <a:t>2.3.2.1 Secuenciales</a:t>
            </a:r>
          </a:p>
          <a:p>
            <a:pPr marL="457200" indent="-457200"/>
            <a:r>
              <a:rPr lang="es-MX" sz="2600" dirty="0"/>
              <a:t>Ejemplo:</a:t>
            </a:r>
          </a:p>
        </p:txBody>
      </p:sp>
      <p:sp>
        <p:nvSpPr>
          <p:cNvPr id="1027" name="Text Box 3"/>
          <p:cNvSpPr txBox="1">
            <a:spLocks noChangeArrowheads="1"/>
          </p:cNvSpPr>
          <p:nvPr/>
        </p:nvSpPr>
        <p:spPr bwMode="auto">
          <a:xfrm>
            <a:off x="1331640" y="2564904"/>
            <a:ext cx="2592288" cy="2016224"/>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Inicio</a:t>
            </a:r>
          </a:p>
          <a:p>
            <a:pPr marL="0" marR="0" lvl="0" indent="0" algn="l" defTabSz="914400" rtl="0" eaLnBrk="1" fontAlgn="base" latinLnBrk="0" hangingPunct="1">
              <a:lnSpc>
                <a:spcPct val="100000"/>
              </a:lnSpc>
              <a:spcBef>
                <a:spcPct val="0"/>
              </a:spcBef>
              <a:spcAft>
                <a:spcPct val="0"/>
              </a:spcAft>
              <a:buClrTx/>
              <a:buSzTx/>
              <a:buFontTx/>
              <a:buNone/>
              <a:tabLst/>
            </a:pPr>
            <a:r>
              <a:rPr lang="es-ES" sz="2400" dirty="0">
                <a:cs typeface="Arial" pitchFamily="34" charset="0"/>
              </a:rPr>
              <a:t>     L</a:t>
            </a:r>
            <a:r>
              <a:rPr kumimoji="0" lang="es-ES" sz="2400" b="0" i="0" u="none" strike="noStrike" cap="none" normalizeH="0" baseline="0" dirty="0">
                <a:ln>
                  <a:noFill/>
                </a:ln>
                <a:solidFill>
                  <a:schemeClr val="tx1"/>
                </a:solidFill>
                <a:effectLst/>
                <a:cs typeface="Arial" pitchFamily="34" charset="0"/>
              </a:rPr>
              <a:t>eer N1, N2</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cs typeface="Arial" pitchFamily="34" charset="0"/>
              </a:rPr>
              <a:t>     SUMA=N1+N2</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cs typeface="Arial" pitchFamily="34" charset="0"/>
              </a:rPr>
              <a:t>     Escribir </a:t>
            </a:r>
            <a:r>
              <a:rPr lang="es-ES" sz="2400" dirty="0">
                <a:cs typeface="Arial" pitchFamily="34" charset="0"/>
              </a:rPr>
              <a:t>SUMA</a:t>
            </a:r>
            <a:endParaRPr kumimoji="0" lang="es-ES" sz="24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Fin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MX" sz="2400" b="0" i="0" u="none" strike="noStrike" cap="none" normalizeH="0" baseline="0" dirty="0">
              <a:ln>
                <a:noFill/>
              </a:ln>
              <a:solidFill>
                <a:schemeClr val="tx1"/>
              </a:solidFill>
              <a:effectLst/>
              <a:cs typeface="Arial" pitchFamily="34" charset="0"/>
            </a:endParaRPr>
          </a:p>
        </p:txBody>
      </p:sp>
      <p:sp>
        <p:nvSpPr>
          <p:cNvPr id="6" name="5 Rectángulo"/>
          <p:cNvSpPr/>
          <p:nvPr/>
        </p:nvSpPr>
        <p:spPr>
          <a:xfrm>
            <a:off x="683568" y="1772816"/>
            <a:ext cx="8064896" cy="492443"/>
          </a:xfrm>
          <a:prstGeom prst="rect">
            <a:avLst/>
          </a:prstGeom>
        </p:spPr>
        <p:txBody>
          <a:bodyPr wrap="square">
            <a:spAutoFit/>
          </a:bodyPr>
          <a:lstStyle/>
          <a:p>
            <a:pPr marL="457200" indent="-457200"/>
            <a:r>
              <a:rPr lang="es-ES" sz="2600" b="1" dirty="0"/>
              <a:t>	Pseudocódigo				DFD</a:t>
            </a:r>
          </a:p>
        </p:txBody>
      </p:sp>
      <p:pic>
        <p:nvPicPr>
          <p:cNvPr id="7" name="6 Imagen"/>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2281981"/>
            <a:ext cx="3384376" cy="3883323"/>
          </a:xfrm>
          <a:prstGeom prst="rect">
            <a:avLst/>
          </a:prstGeom>
          <a:noFill/>
          <a:ln>
            <a:noFill/>
          </a:ln>
        </p:spPr>
      </p:pic>
    </p:spTree>
    <p:extLst>
      <p:ext uri="{BB962C8B-B14F-4D97-AF65-F5344CB8AC3E}">
        <p14:creationId xmlns:p14="http://schemas.microsoft.com/office/powerpoint/2010/main" val="1866967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1124744"/>
            <a:ext cx="8064896" cy="4585871"/>
          </a:xfrm>
          <a:prstGeom prst="rect">
            <a:avLst/>
          </a:prstGeom>
        </p:spPr>
        <p:txBody>
          <a:bodyPr wrap="square">
            <a:spAutoFit/>
          </a:bodyPr>
          <a:lstStyle/>
          <a:p>
            <a:pPr marL="457200" indent="-457200"/>
            <a:r>
              <a:rPr lang="es-ES" sz="2600" b="1" dirty="0"/>
              <a:t>2.3.2.2 Selectivas: </a:t>
            </a:r>
            <a:r>
              <a:rPr lang="es-MX" sz="2600" dirty="0"/>
              <a:t>Se utilizan para TOMAR DECISIONES. </a:t>
            </a:r>
          </a:p>
          <a:p>
            <a:pPr marL="457200" indent="-457200"/>
            <a:endParaRPr lang="es-ES" sz="2600" b="1" dirty="0"/>
          </a:p>
          <a:p>
            <a:pPr marL="914400" lvl="1" indent="-457200">
              <a:buFont typeface="Wingdings" pitchFamily="2" charset="2"/>
              <a:buChar char="ü"/>
            </a:pPr>
            <a:r>
              <a:rPr lang="es-ES" sz="2600" b="1" dirty="0"/>
              <a:t>Simples</a:t>
            </a:r>
          </a:p>
          <a:p>
            <a:pPr marL="457200" indent="-457200" algn="just"/>
            <a:r>
              <a:rPr lang="es-MX" sz="2600" dirty="0"/>
              <a:t>	Lo que se hace es EVALUAR la condición, si la condición es verdadera realiza la acción, en caso contrario termina el programa.</a:t>
            </a:r>
          </a:p>
          <a:p>
            <a:pPr marL="457200" indent="-457200" algn="just"/>
            <a:endParaRPr lang="es-MX" sz="2600" dirty="0"/>
          </a:p>
          <a:p>
            <a:pPr lvl="5"/>
            <a:r>
              <a:rPr lang="es-ES_tradnl" sz="2800" dirty="0"/>
              <a:t>Si &lt;condición&gt; entonces</a:t>
            </a:r>
            <a:endParaRPr lang="es-MX" sz="2800" dirty="0"/>
          </a:p>
          <a:p>
            <a:pPr lvl="5"/>
            <a:r>
              <a:rPr lang="es-ES_tradnl" sz="2800" dirty="0"/>
              <a:t>	Acción(es)</a:t>
            </a:r>
            <a:endParaRPr lang="es-MX" sz="2800" dirty="0"/>
          </a:p>
          <a:p>
            <a:pPr lvl="5"/>
            <a:r>
              <a:rPr lang="es-ES_tradnl" sz="2800" dirty="0"/>
              <a:t>Fin-si</a:t>
            </a:r>
            <a:endParaRPr lang="es-MX" sz="2800" dirty="0"/>
          </a:p>
          <a:p>
            <a:pPr marL="457200" indent="-457200" algn="just"/>
            <a:endParaRPr lang="es-MX" sz="2600" dirty="0"/>
          </a:p>
        </p:txBody>
      </p:sp>
    </p:spTree>
    <p:extLst>
      <p:ext uri="{BB962C8B-B14F-4D97-AF65-F5344CB8AC3E}">
        <p14:creationId xmlns:p14="http://schemas.microsoft.com/office/powerpoint/2010/main" val="186696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620688"/>
            <a:ext cx="8064896" cy="1292662"/>
          </a:xfrm>
          <a:prstGeom prst="rect">
            <a:avLst/>
          </a:prstGeom>
        </p:spPr>
        <p:txBody>
          <a:bodyPr wrap="square">
            <a:spAutoFit/>
          </a:bodyPr>
          <a:lstStyle/>
          <a:p>
            <a:pPr marL="514350" indent="-514350">
              <a:buAutoNum type="arabicParenR" startAt="2"/>
            </a:pPr>
            <a:r>
              <a:rPr lang="es-ES" sz="2600" b="1" dirty="0"/>
              <a:t>Selectivas Simples</a:t>
            </a:r>
            <a:endParaRPr lang="es-MX" sz="1200" dirty="0"/>
          </a:p>
          <a:p>
            <a:pPr marL="914400" lvl="1" indent="-457200"/>
            <a:r>
              <a:rPr lang="es-ES" sz="2600" dirty="0"/>
              <a:t>Ejemplo:</a:t>
            </a:r>
          </a:p>
          <a:p>
            <a:pPr marL="457200" indent="-457200" algn="just"/>
            <a:r>
              <a:rPr lang="es-MX" sz="2600" dirty="0"/>
              <a:t>	</a:t>
            </a:r>
          </a:p>
        </p:txBody>
      </p:sp>
      <p:sp>
        <p:nvSpPr>
          <p:cNvPr id="3" name="2 Rectángulo"/>
          <p:cNvSpPr/>
          <p:nvPr/>
        </p:nvSpPr>
        <p:spPr>
          <a:xfrm>
            <a:off x="683568" y="1628799"/>
            <a:ext cx="8064896" cy="492443"/>
          </a:xfrm>
          <a:prstGeom prst="rect">
            <a:avLst/>
          </a:prstGeom>
        </p:spPr>
        <p:txBody>
          <a:bodyPr wrap="square">
            <a:spAutoFit/>
          </a:bodyPr>
          <a:lstStyle/>
          <a:p>
            <a:pPr marL="457200" indent="-457200"/>
            <a:r>
              <a:rPr lang="es-ES" sz="2600" b="1" dirty="0"/>
              <a:t>	Pseudocódigo				DFD</a:t>
            </a:r>
          </a:p>
        </p:txBody>
      </p:sp>
      <p:sp>
        <p:nvSpPr>
          <p:cNvPr id="6" name="Text Box 3"/>
          <p:cNvSpPr txBox="1">
            <a:spLocks noChangeArrowheads="1"/>
          </p:cNvSpPr>
          <p:nvPr/>
        </p:nvSpPr>
        <p:spPr bwMode="auto">
          <a:xfrm>
            <a:off x="288032" y="2204864"/>
            <a:ext cx="4788024" cy="2952328"/>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Inicio</a:t>
            </a:r>
          </a:p>
          <a:p>
            <a:pPr lvl="0" fontAlgn="base">
              <a:spcBef>
                <a:spcPct val="0"/>
              </a:spcBef>
              <a:spcAft>
                <a:spcPct val="0"/>
              </a:spcAft>
            </a:pPr>
            <a:r>
              <a:rPr kumimoji="0" lang="es-ES" sz="2400" b="0" i="0" u="none" strike="noStrike" cap="none" normalizeH="0" baseline="0" dirty="0">
                <a:ln>
                  <a:noFill/>
                </a:ln>
                <a:solidFill>
                  <a:schemeClr val="tx1"/>
                </a:solidFill>
                <a:effectLst/>
                <a:cs typeface="Arial" pitchFamily="34" charset="0"/>
              </a:rPr>
              <a:t>     Leer </a:t>
            </a:r>
            <a:r>
              <a:rPr lang="es-ES" sz="2400" dirty="0">
                <a:cs typeface="Arial" pitchFamily="34" charset="0"/>
              </a:rPr>
              <a:t>COMPRA</a:t>
            </a:r>
            <a:endParaRPr kumimoji="0" lang="es-ES" sz="24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ES" sz="2400" dirty="0">
                <a:cs typeface="Arial" pitchFamily="34" charset="0"/>
              </a:rPr>
              <a:t>     Si COMPRA&gt;1000 entonces</a:t>
            </a:r>
          </a:p>
          <a:p>
            <a:pPr lvl="0" fontAlgn="base">
              <a:spcBef>
                <a:spcPct val="0"/>
              </a:spcBef>
              <a:spcAft>
                <a:spcPct val="0"/>
              </a:spcAft>
            </a:pPr>
            <a:r>
              <a:rPr kumimoji="0" lang="es-ES" sz="2400" b="0" i="0" u="none" strike="noStrike" cap="none" normalizeH="0" dirty="0">
                <a:ln>
                  <a:noFill/>
                </a:ln>
                <a:solidFill>
                  <a:schemeClr val="tx1"/>
                </a:solidFill>
                <a:effectLst/>
                <a:cs typeface="Arial" pitchFamily="34" charset="0"/>
              </a:rPr>
              <a:t>          DESCUENTO=</a:t>
            </a:r>
            <a:r>
              <a:rPr lang="es-ES" sz="2400" dirty="0">
                <a:cs typeface="Arial" pitchFamily="34" charset="0"/>
              </a:rPr>
              <a:t>COMPRA</a:t>
            </a:r>
            <a:r>
              <a:rPr kumimoji="0" lang="es-ES" sz="2400" b="0" i="0" u="none" strike="noStrike" cap="none" normalizeH="0" dirty="0">
                <a:ln>
                  <a:noFill/>
                </a:ln>
                <a:solidFill>
                  <a:schemeClr val="tx1"/>
                </a:solidFill>
                <a:effectLst/>
                <a:cs typeface="Arial" pitchFamily="34" charset="0"/>
              </a:rPr>
              <a:t>*0.10</a:t>
            </a:r>
          </a:p>
          <a:p>
            <a:pPr lvl="0" fontAlgn="base">
              <a:spcBef>
                <a:spcPct val="0"/>
              </a:spcBef>
              <a:spcAft>
                <a:spcPct val="0"/>
              </a:spcAft>
            </a:pPr>
            <a:r>
              <a:rPr lang="es-ES" sz="2400" dirty="0">
                <a:cs typeface="Arial" pitchFamily="34" charset="0"/>
              </a:rPr>
              <a:t>          PAGO</a:t>
            </a:r>
            <a:r>
              <a:rPr lang="es-ES" sz="2400" baseline="0" dirty="0">
                <a:cs typeface="Arial" pitchFamily="34" charset="0"/>
              </a:rPr>
              <a:t>=</a:t>
            </a:r>
            <a:r>
              <a:rPr lang="es-ES" sz="2400" dirty="0">
                <a:cs typeface="Arial" pitchFamily="34" charset="0"/>
              </a:rPr>
              <a:t>COMPRA–DESCUENTO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cs typeface="Arial" pitchFamily="34" charset="0"/>
              </a:rPr>
              <a:t>          Escribir </a:t>
            </a:r>
            <a:r>
              <a:rPr kumimoji="0" lang="es-ES" sz="2400" b="0" i="0" u="none" strike="noStrike" cap="none" normalizeH="0" dirty="0">
                <a:ln>
                  <a:noFill/>
                </a:ln>
                <a:solidFill>
                  <a:schemeClr val="tx1"/>
                </a:solidFill>
                <a:effectLst/>
                <a:cs typeface="Arial" pitchFamily="34" charset="0"/>
              </a:rPr>
              <a:t>PAGO</a:t>
            </a:r>
          </a:p>
          <a:p>
            <a:pPr marL="0" marR="0" lvl="0" indent="0" algn="l" defTabSz="914400" rtl="0" eaLnBrk="1" fontAlgn="base" latinLnBrk="0" hangingPunct="1">
              <a:lnSpc>
                <a:spcPct val="100000"/>
              </a:lnSpc>
              <a:spcBef>
                <a:spcPct val="0"/>
              </a:spcBef>
              <a:spcAft>
                <a:spcPct val="0"/>
              </a:spcAft>
              <a:buClrTx/>
              <a:buSzTx/>
              <a:buFontTx/>
              <a:buNone/>
              <a:tabLst/>
            </a:pPr>
            <a:r>
              <a:rPr lang="es-ES" sz="2400" baseline="0" dirty="0">
                <a:cs typeface="Arial" pitchFamily="34" charset="0"/>
              </a:rPr>
              <a:t>     </a:t>
            </a:r>
            <a:r>
              <a:rPr lang="es-ES" sz="2400" dirty="0" err="1">
                <a:cs typeface="Arial" pitchFamily="34" charset="0"/>
              </a:rPr>
              <a:t>F</a:t>
            </a:r>
            <a:r>
              <a:rPr lang="es-ES" sz="2400" baseline="0" dirty="0" err="1">
                <a:cs typeface="Arial" pitchFamily="34" charset="0"/>
              </a:rPr>
              <a:t>in</a:t>
            </a:r>
            <a:r>
              <a:rPr lang="es-ES" sz="2400" dirty="0" err="1">
                <a:cs typeface="Arial" pitchFamily="34" charset="0"/>
              </a:rPr>
              <a:t>si</a:t>
            </a:r>
            <a:endParaRPr kumimoji="0" lang="es-ES" sz="24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Fin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MX" sz="2400" b="0" i="0" u="none" strike="noStrike" cap="none" normalizeH="0" baseline="0" dirty="0">
              <a:ln>
                <a:noFill/>
              </a:ln>
              <a:solidFill>
                <a:schemeClr val="tx1"/>
              </a:solidFill>
              <a:effectLst/>
              <a:cs typeface="Arial" pitchFamily="34" charset="0"/>
            </a:endParaRPr>
          </a:p>
        </p:txBody>
      </p:sp>
      <p:pic>
        <p:nvPicPr>
          <p:cNvPr id="7" name="6 Imagen"/>
          <p:cNvPicPr/>
          <p:nvPr/>
        </p:nvPicPr>
        <p:blipFill>
          <a:blip r:embed="rId2" cstate="print"/>
          <a:srcRect/>
          <a:stretch>
            <a:fillRect/>
          </a:stretch>
        </p:blipFill>
        <p:spPr bwMode="auto">
          <a:xfrm>
            <a:off x="5148064" y="2132855"/>
            <a:ext cx="3384376" cy="3972793"/>
          </a:xfrm>
          <a:prstGeom prst="rect">
            <a:avLst/>
          </a:prstGeom>
          <a:noFill/>
          <a:ln w="9525">
            <a:noFill/>
            <a:miter lim="800000"/>
            <a:headEnd/>
            <a:tailEnd/>
          </a:ln>
        </p:spPr>
      </p:pic>
    </p:spTree>
    <p:extLst>
      <p:ext uri="{BB962C8B-B14F-4D97-AF65-F5344CB8AC3E}">
        <p14:creationId xmlns:p14="http://schemas.microsoft.com/office/powerpoint/2010/main" val="1866967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1124744"/>
            <a:ext cx="8064896" cy="5293757"/>
          </a:xfrm>
          <a:prstGeom prst="rect">
            <a:avLst/>
          </a:prstGeom>
        </p:spPr>
        <p:txBody>
          <a:bodyPr wrap="square">
            <a:spAutoFit/>
          </a:bodyPr>
          <a:lstStyle/>
          <a:p>
            <a:pPr marL="457200" indent="-457200"/>
            <a:r>
              <a:rPr lang="es-ES" sz="2600" b="1" dirty="0"/>
              <a:t>2)  Selectivas</a:t>
            </a:r>
          </a:p>
          <a:p>
            <a:pPr marL="914400" lvl="1" indent="-457200">
              <a:buFont typeface="Wingdings" pitchFamily="2" charset="2"/>
              <a:buChar char="ü"/>
            </a:pPr>
            <a:r>
              <a:rPr lang="es-ES" sz="2600" b="1" dirty="0"/>
              <a:t>Doble</a:t>
            </a:r>
          </a:p>
          <a:p>
            <a:pPr marL="457200" indent="-457200" algn="just"/>
            <a:r>
              <a:rPr lang="es-MX" sz="2600" dirty="0"/>
              <a:t>	Luego de evaluar una condición si esta se cumple, es decir si es verdadera realiza una serie de acciones, y si esta es falsa se realiza otra serie de acciones distinta a la primera.</a:t>
            </a:r>
          </a:p>
          <a:p>
            <a:pPr marL="457200" indent="-457200"/>
            <a:endParaRPr lang="es-MX" sz="2600" dirty="0"/>
          </a:p>
          <a:p>
            <a:pPr lvl="4"/>
            <a:r>
              <a:rPr lang="es-ES_tradnl" sz="2600" dirty="0"/>
              <a:t>Si &lt;condición&gt; entonces</a:t>
            </a:r>
            <a:endParaRPr lang="es-MX" sz="2600" dirty="0"/>
          </a:p>
          <a:p>
            <a:pPr lvl="4"/>
            <a:r>
              <a:rPr lang="es-ES_tradnl" sz="2600" dirty="0"/>
              <a:t>	Acción(es)</a:t>
            </a:r>
            <a:endParaRPr lang="es-MX" sz="2600" dirty="0"/>
          </a:p>
          <a:p>
            <a:pPr lvl="4"/>
            <a:r>
              <a:rPr lang="es-ES_tradnl" sz="2600" dirty="0"/>
              <a:t>Sino	</a:t>
            </a:r>
            <a:endParaRPr lang="es-MX" sz="2600" dirty="0"/>
          </a:p>
          <a:p>
            <a:pPr lvl="4"/>
            <a:r>
              <a:rPr lang="es-ES_tradnl" sz="2600" dirty="0"/>
              <a:t>	Acción(es)</a:t>
            </a:r>
            <a:endParaRPr lang="es-MX" sz="2600" dirty="0"/>
          </a:p>
          <a:p>
            <a:pPr lvl="4"/>
            <a:r>
              <a:rPr lang="es-ES_tradnl" sz="2600" dirty="0" err="1"/>
              <a:t>Finsi</a:t>
            </a:r>
            <a:endParaRPr lang="es-MX" sz="2600" dirty="0"/>
          </a:p>
          <a:p>
            <a:pPr marL="457200" indent="-457200"/>
            <a:endParaRPr lang="es-MX" sz="2600" dirty="0"/>
          </a:p>
        </p:txBody>
      </p:sp>
    </p:spTree>
    <p:extLst>
      <p:ext uri="{BB962C8B-B14F-4D97-AF65-F5344CB8AC3E}">
        <p14:creationId xmlns:p14="http://schemas.microsoft.com/office/powerpoint/2010/main" val="1866967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476672"/>
            <a:ext cx="8064896" cy="1292662"/>
          </a:xfrm>
          <a:prstGeom prst="rect">
            <a:avLst/>
          </a:prstGeom>
        </p:spPr>
        <p:txBody>
          <a:bodyPr wrap="square">
            <a:spAutoFit/>
          </a:bodyPr>
          <a:lstStyle/>
          <a:p>
            <a:pPr marL="514350" indent="-514350">
              <a:buAutoNum type="arabicParenR" startAt="2"/>
            </a:pPr>
            <a:r>
              <a:rPr lang="es-ES" sz="2600" b="1" dirty="0"/>
              <a:t>Selectivas Doble</a:t>
            </a:r>
          </a:p>
          <a:p>
            <a:pPr marL="514350" indent="-514350"/>
            <a:r>
              <a:rPr lang="es-ES" sz="2600" dirty="0"/>
              <a:t>Ejemplo:</a:t>
            </a:r>
          </a:p>
          <a:p>
            <a:pPr marL="457200" indent="-457200"/>
            <a:endParaRPr lang="es-MX" sz="2600" dirty="0"/>
          </a:p>
        </p:txBody>
      </p:sp>
      <p:sp>
        <p:nvSpPr>
          <p:cNvPr id="3" name="Text Box 3"/>
          <p:cNvSpPr txBox="1">
            <a:spLocks noChangeArrowheads="1"/>
          </p:cNvSpPr>
          <p:nvPr/>
        </p:nvSpPr>
        <p:spPr bwMode="auto">
          <a:xfrm>
            <a:off x="539552" y="2132856"/>
            <a:ext cx="4248472" cy="2952328"/>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Inicio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cs typeface="Arial" pitchFamily="34" charset="0"/>
              </a:rPr>
              <a:t>     Leer </a:t>
            </a:r>
            <a:r>
              <a:rPr lang="es-ES" sz="2400" dirty="0">
                <a:cs typeface="Arial" pitchFamily="34" charset="0"/>
              </a:rPr>
              <a:t>EDAD</a:t>
            </a:r>
            <a:endParaRPr kumimoji="0" lang="es-ES" sz="24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ES" sz="2400" dirty="0">
                <a:cs typeface="Arial" pitchFamily="34" charset="0"/>
              </a:rPr>
              <a:t>     Si EDAD&gt;=18 entonces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dirty="0">
                <a:ln>
                  <a:noFill/>
                </a:ln>
                <a:solidFill>
                  <a:schemeClr val="tx1"/>
                </a:solidFill>
                <a:effectLst/>
                <a:cs typeface="Arial" pitchFamily="34" charset="0"/>
              </a:rPr>
              <a:t>          Escribir “Mayor de edad”</a:t>
            </a:r>
          </a:p>
          <a:p>
            <a:pPr marL="0" marR="0" lvl="0" indent="0" algn="l" defTabSz="914400" rtl="0" eaLnBrk="1" fontAlgn="base" latinLnBrk="0" hangingPunct="1">
              <a:lnSpc>
                <a:spcPct val="100000"/>
              </a:lnSpc>
              <a:spcBef>
                <a:spcPct val="0"/>
              </a:spcBef>
              <a:spcAft>
                <a:spcPct val="0"/>
              </a:spcAft>
              <a:buClrTx/>
              <a:buSzTx/>
              <a:buFontTx/>
              <a:buNone/>
              <a:tabLst/>
            </a:pPr>
            <a:r>
              <a:rPr lang="es-ES" sz="2400" dirty="0">
                <a:cs typeface="Arial" pitchFamily="34" charset="0"/>
              </a:rPr>
              <a:t>     Sino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cs typeface="Arial" pitchFamily="34" charset="0"/>
              </a:rPr>
              <a:t>          Escribir</a:t>
            </a:r>
            <a:r>
              <a:rPr kumimoji="0" lang="es-ES" sz="2400" b="0" i="0" u="none" strike="noStrike" cap="none" normalizeH="0" dirty="0">
                <a:ln>
                  <a:noFill/>
                </a:ln>
                <a:solidFill>
                  <a:schemeClr val="tx1"/>
                </a:solidFill>
                <a:effectLst/>
                <a:cs typeface="Arial" pitchFamily="34" charset="0"/>
              </a:rPr>
              <a:t> “Menor de edad”</a:t>
            </a:r>
          </a:p>
          <a:p>
            <a:pPr marL="0" marR="0" lvl="0" indent="0" algn="l" defTabSz="914400" rtl="0" eaLnBrk="1" fontAlgn="base" latinLnBrk="0" hangingPunct="1">
              <a:lnSpc>
                <a:spcPct val="100000"/>
              </a:lnSpc>
              <a:spcBef>
                <a:spcPct val="0"/>
              </a:spcBef>
              <a:spcAft>
                <a:spcPct val="0"/>
              </a:spcAft>
              <a:buClrTx/>
              <a:buSzTx/>
              <a:buFontTx/>
              <a:buNone/>
              <a:tabLst/>
            </a:pPr>
            <a:r>
              <a:rPr lang="es-ES" sz="2400" baseline="0" dirty="0">
                <a:cs typeface="Arial" pitchFamily="34" charset="0"/>
              </a:rPr>
              <a:t>     </a:t>
            </a:r>
            <a:r>
              <a:rPr lang="es-ES" sz="2400" baseline="0" dirty="0" err="1">
                <a:cs typeface="Arial" pitchFamily="34" charset="0"/>
              </a:rPr>
              <a:t>Fin</a:t>
            </a:r>
            <a:r>
              <a:rPr lang="es-ES" sz="2400" dirty="0" err="1">
                <a:cs typeface="Arial" pitchFamily="34" charset="0"/>
              </a:rPr>
              <a:t>si</a:t>
            </a:r>
            <a:endParaRPr kumimoji="0" lang="es-ES" sz="24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cs typeface="Arial" pitchFamily="34" charset="0"/>
              </a:rPr>
              <a:t>Fin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MX" sz="2400" b="0" i="0" u="none" strike="noStrike" cap="none" normalizeH="0" baseline="0" dirty="0">
              <a:ln>
                <a:noFill/>
              </a:ln>
              <a:solidFill>
                <a:schemeClr val="tx1"/>
              </a:solidFill>
              <a:effectLst/>
              <a:cs typeface="Arial" pitchFamily="34" charset="0"/>
            </a:endParaRPr>
          </a:p>
        </p:txBody>
      </p:sp>
      <p:sp>
        <p:nvSpPr>
          <p:cNvPr id="4" name="3 Rectángulo"/>
          <p:cNvSpPr/>
          <p:nvPr/>
        </p:nvSpPr>
        <p:spPr>
          <a:xfrm>
            <a:off x="683568" y="1484784"/>
            <a:ext cx="8064896" cy="492443"/>
          </a:xfrm>
          <a:prstGeom prst="rect">
            <a:avLst/>
          </a:prstGeom>
        </p:spPr>
        <p:txBody>
          <a:bodyPr wrap="square">
            <a:spAutoFit/>
          </a:bodyPr>
          <a:lstStyle/>
          <a:p>
            <a:pPr marL="457200" indent="-457200"/>
            <a:r>
              <a:rPr lang="es-ES" sz="2600" b="1" dirty="0"/>
              <a:t>	Pseudocódigo				DFD</a:t>
            </a:r>
          </a:p>
        </p:txBody>
      </p:sp>
      <p:pic>
        <p:nvPicPr>
          <p:cNvPr id="6" name="5 Imagen"/>
          <p:cNvPicPr/>
          <p:nvPr/>
        </p:nvPicPr>
        <p:blipFill>
          <a:blip r:embed="rId2" cstate="print"/>
          <a:srcRect/>
          <a:stretch>
            <a:fillRect/>
          </a:stretch>
        </p:blipFill>
        <p:spPr bwMode="auto">
          <a:xfrm>
            <a:off x="4788024" y="1996306"/>
            <a:ext cx="3600400" cy="3880966"/>
          </a:xfrm>
          <a:prstGeom prst="rect">
            <a:avLst/>
          </a:prstGeom>
          <a:noFill/>
          <a:ln w="9525">
            <a:noFill/>
            <a:miter lim="800000"/>
            <a:headEnd/>
            <a:tailEnd/>
          </a:ln>
        </p:spPr>
      </p:pic>
    </p:spTree>
    <p:extLst>
      <p:ext uri="{BB962C8B-B14F-4D97-AF65-F5344CB8AC3E}">
        <p14:creationId xmlns:p14="http://schemas.microsoft.com/office/powerpoint/2010/main" val="1866967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332656"/>
            <a:ext cx="8064896" cy="6278642"/>
          </a:xfrm>
          <a:prstGeom prst="rect">
            <a:avLst/>
          </a:prstGeom>
        </p:spPr>
        <p:txBody>
          <a:bodyPr wrap="square">
            <a:spAutoFit/>
          </a:bodyPr>
          <a:lstStyle/>
          <a:p>
            <a:pPr marL="457200" indent="-457200"/>
            <a:r>
              <a:rPr lang="es-ES" sz="2600" b="1" dirty="0"/>
              <a:t>2)  Selectivas</a:t>
            </a:r>
          </a:p>
          <a:p>
            <a:pPr marL="914400" lvl="1" indent="-457200">
              <a:buFont typeface="Wingdings" pitchFamily="2" charset="2"/>
              <a:buChar char="ü"/>
            </a:pPr>
            <a:r>
              <a:rPr lang="es-ES" sz="2600" b="1" dirty="0"/>
              <a:t>Múltiple</a:t>
            </a:r>
          </a:p>
          <a:p>
            <a:pPr marL="457200" indent="-457200"/>
            <a:r>
              <a:rPr lang="es-MX" sz="2600" dirty="0"/>
              <a:t>	Se realiza a partir de anidar estructuras simples y/o dobles, de manera tal que se realicen diferentes acciones con base a varias comparaciones, así habrá tantas opciones como se requieran.</a:t>
            </a:r>
          </a:p>
          <a:p>
            <a:pPr lvl="3"/>
            <a:r>
              <a:rPr lang="es-ES_tradnl" sz="2000" b="1" dirty="0"/>
              <a:t>Si &lt;condición&gt; entonces</a:t>
            </a:r>
            <a:endParaRPr lang="es-MX" sz="2000" b="1" dirty="0"/>
          </a:p>
          <a:p>
            <a:pPr lvl="3"/>
            <a:r>
              <a:rPr lang="es-ES_tradnl" sz="2000" b="1" dirty="0"/>
              <a:t>	Acción(es)</a:t>
            </a:r>
            <a:endParaRPr lang="es-MX" sz="2000" b="1" dirty="0"/>
          </a:p>
          <a:p>
            <a:pPr lvl="3"/>
            <a:r>
              <a:rPr lang="es-ES_tradnl" sz="2000" b="1" dirty="0"/>
              <a:t>Sino</a:t>
            </a:r>
            <a:endParaRPr lang="es-MX" sz="2000" b="1" dirty="0"/>
          </a:p>
          <a:p>
            <a:pPr lvl="3"/>
            <a:r>
              <a:rPr lang="es-ES_tradnl" sz="2000" b="1" dirty="0"/>
              <a:t>	Si &lt;condición&gt; entonces</a:t>
            </a:r>
            <a:endParaRPr lang="es-MX" sz="2000" b="1" dirty="0"/>
          </a:p>
          <a:p>
            <a:pPr lvl="3"/>
            <a:r>
              <a:rPr lang="es-ES_tradnl" sz="2000" b="1" dirty="0"/>
              <a:t>		Acción(es)</a:t>
            </a:r>
          </a:p>
          <a:p>
            <a:pPr lvl="3"/>
            <a:r>
              <a:rPr lang="es-ES_tradnl" sz="2000" b="1" dirty="0"/>
              <a:t>	Sino		</a:t>
            </a:r>
            <a:endParaRPr lang="es-MX" sz="2000" b="1" dirty="0"/>
          </a:p>
          <a:p>
            <a:pPr lvl="3"/>
            <a:r>
              <a:rPr lang="es-ES_tradnl" sz="2000" b="1" dirty="0"/>
              <a:t>		.</a:t>
            </a:r>
            <a:endParaRPr lang="es-MX" sz="2000" b="1" dirty="0"/>
          </a:p>
          <a:p>
            <a:pPr lvl="3"/>
            <a:r>
              <a:rPr lang="es-ES_tradnl" sz="2000" b="1" dirty="0"/>
              <a:t>		.    Varias condiciones</a:t>
            </a:r>
            <a:endParaRPr lang="es-MX" sz="2000" b="1" dirty="0"/>
          </a:p>
          <a:p>
            <a:pPr lvl="3"/>
            <a:r>
              <a:rPr lang="es-ES_tradnl" sz="2000" b="1" dirty="0"/>
              <a:t>		.</a:t>
            </a:r>
            <a:endParaRPr lang="es-MX" sz="2000" b="1" dirty="0"/>
          </a:p>
          <a:p>
            <a:pPr marL="457200" indent="-457200"/>
            <a:r>
              <a:rPr lang="es-MX" sz="2000" b="1" dirty="0"/>
              <a:t>			</a:t>
            </a:r>
            <a:r>
              <a:rPr lang="es-MX" sz="2000" b="1" dirty="0" err="1"/>
              <a:t>Finsi</a:t>
            </a:r>
            <a:endParaRPr lang="es-MX" sz="2000" b="1" dirty="0"/>
          </a:p>
          <a:p>
            <a:pPr marL="457200" indent="-457200"/>
            <a:r>
              <a:rPr lang="es-MX" sz="2000" b="1" dirty="0"/>
              <a:t>                       </a:t>
            </a:r>
            <a:r>
              <a:rPr lang="es-MX" sz="2000" b="1" dirty="0" err="1"/>
              <a:t>Finsi</a:t>
            </a:r>
            <a:endParaRPr lang="es-MX" sz="2000" b="1" dirty="0"/>
          </a:p>
          <a:p>
            <a:pPr marL="457200" indent="-457200"/>
            <a:r>
              <a:rPr lang="es-MX" sz="2000" dirty="0"/>
              <a:t>                           </a:t>
            </a:r>
            <a:endParaRPr lang="es-MX" sz="2600" dirty="0"/>
          </a:p>
        </p:txBody>
      </p:sp>
    </p:spTree>
    <p:extLst>
      <p:ext uri="{BB962C8B-B14F-4D97-AF65-F5344CB8AC3E}">
        <p14:creationId xmlns:p14="http://schemas.microsoft.com/office/powerpoint/2010/main" val="1866967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404664"/>
            <a:ext cx="8064896" cy="892552"/>
          </a:xfrm>
          <a:prstGeom prst="rect">
            <a:avLst/>
          </a:prstGeom>
        </p:spPr>
        <p:txBody>
          <a:bodyPr wrap="square">
            <a:spAutoFit/>
          </a:bodyPr>
          <a:lstStyle/>
          <a:p>
            <a:pPr marL="514350" indent="-514350">
              <a:buAutoNum type="arabicParenR" startAt="2"/>
            </a:pPr>
            <a:r>
              <a:rPr lang="es-ES" sz="2600" b="1" dirty="0"/>
              <a:t>Selectivas  Múltiple</a:t>
            </a:r>
            <a:endParaRPr lang="es-MX" sz="2600" dirty="0"/>
          </a:p>
          <a:p>
            <a:pPr marL="514350" indent="-514350"/>
            <a:r>
              <a:rPr lang="es-MX" sz="2600" dirty="0"/>
              <a:t>Ejemplo:</a:t>
            </a:r>
            <a:endParaRPr lang="es-MX" sz="2000" dirty="0"/>
          </a:p>
        </p:txBody>
      </p:sp>
      <p:sp>
        <p:nvSpPr>
          <p:cNvPr id="3" name="2 Rectángulo"/>
          <p:cNvSpPr/>
          <p:nvPr/>
        </p:nvSpPr>
        <p:spPr>
          <a:xfrm>
            <a:off x="683568" y="1412775"/>
            <a:ext cx="8064896" cy="492443"/>
          </a:xfrm>
          <a:prstGeom prst="rect">
            <a:avLst/>
          </a:prstGeom>
        </p:spPr>
        <p:txBody>
          <a:bodyPr wrap="square">
            <a:spAutoFit/>
          </a:bodyPr>
          <a:lstStyle/>
          <a:p>
            <a:pPr marL="457200" indent="-457200"/>
            <a:r>
              <a:rPr lang="es-ES" sz="2600" b="1" dirty="0"/>
              <a:t>	Pseudocódigo				DFD</a:t>
            </a:r>
          </a:p>
        </p:txBody>
      </p:sp>
      <p:sp>
        <p:nvSpPr>
          <p:cNvPr id="4" name="Text Box 3"/>
          <p:cNvSpPr txBox="1">
            <a:spLocks noChangeArrowheads="1"/>
          </p:cNvSpPr>
          <p:nvPr/>
        </p:nvSpPr>
        <p:spPr bwMode="auto">
          <a:xfrm>
            <a:off x="395536" y="1988839"/>
            <a:ext cx="4392488" cy="3672408"/>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1" i="0" u="none" strike="noStrike" cap="none" normalizeH="0" baseline="0" dirty="0">
                <a:ln>
                  <a:noFill/>
                </a:ln>
                <a:solidFill>
                  <a:schemeClr val="tx1"/>
                </a:solidFill>
                <a:effectLst/>
                <a:cs typeface="Arial" pitchFamily="34" charset="0"/>
              </a:rPr>
              <a:t>Inicio</a:t>
            </a:r>
          </a:p>
          <a:p>
            <a:pPr marL="0" marR="0" lvl="0" indent="0" algn="l" defTabSz="914400" rtl="0" eaLnBrk="1" fontAlgn="base" latinLnBrk="0" hangingPunct="1">
              <a:lnSpc>
                <a:spcPct val="100000"/>
              </a:lnSpc>
              <a:spcBef>
                <a:spcPct val="0"/>
              </a:spcBef>
              <a:spcAft>
                <a:spcPct val="0"/>
              </a:spcAft>
              <a:buClrTx/>
              <a:buSzTx/>
              <a:buFontTx/>
              <a:buNone/>
              <a:tabLst/>
            </a:pPr>
            <a:r>
              <a:rPr lang="es-ES" sz="2000" dirty="0">
                <a:cs typeface="Arial" pitchFamily="34" charset="0"/>
              </a:rPr>
              <a:t>      </a:t>
            </a:r>
            <a:r>
              <a:rPr kumimoji="0" lang="es-ES" sz="2000" b="0" i="0" u="none" strike="noStrike" cap="none" normalizeH="0" baseline="0" dirty="0">
                <a:ln>
                  <a:noFill/>
                </a:ln>
                <a:solidFill>
                  <a:schemeClr val="tx1"/>
                </a:solidFill>
                <a:effectLst/>
                <a:cs typeface="Arial" pitchFamily="34" charset="0"/>
              </a:rPr>
              <a:t>Leer </a:t>
            </a:r>
            <a:r>
              <a:rPr lang="es-ES" sz="2000" dirty="0">
                <a:cs typeface="Arial" pitchFamily="34" charset="0"/>
              </a:rPr>
              <a:t>NUMERO</a:t>
            </a:r>
            <a:endParaRPr kumimoji="0" lang="es-ES" sz="20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ES" sz="2000" dirty="0">
                <a:cs typeface="Arial" pitchFamily="34" charset="0"/>
              </a:rPr>
              <a:t>      Si NUMERO=0 entonces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dirty="0">
                <a:ln>
                  <a:noFill/>
                </a:ln>
                <a:solidFill>
                  <a:schemeClr val="tx1"/>
                </a:solidFill>
                <a:effectLst/>
                <a:cs typeface="Arial" pitchFamily="34" charset="0"/>
              </a:rPr>
              <a:t>          Escribir “Número cero”</a:t>
            </a:r>
          </a:p>
          <a:p>
            <a:pPr marL="0" marR="0" lvl="0" indent="0" algn="l" defTabSz="914400" rtl="0" eaLnBrk="1" fontAlgn="base" latinLnBrk="0" hangingPunct="1">
              <a:lnSpc>
                <a:spcPct val="100000"/>
              </a:lnSpc>
              <a:spcBef>
                <a:spcPct val="0"/>
              </a:spcBef>
              <a:spcAft>
                <a:spcPct val="0"/>
              </a:spcAft>
              <a:buClrTx/>
              <a:buSzTx/>
              <a:buFontTx/>
              <a:buNone/>
              <a:tabLst/>
            </a:pPr>
            <a:r>
              <a:rPr lang="es-ES" sz="2000" dirty="0">
                <a:cs typeface="Arial" pitchFamily="34" charset="0"/>
              </a:rPr>
              <a:t>      Sino</a:t>
            </a:r>
          </a:p>
          <a:p>
            <a:pPr lvl="0" fontAlgn="base">
              <a:spcBef>
                <a:spcPct val="0"/>
              </a:spcBef>
              <a:spcAft>
                <a:spcPct val="0"/>
              </a:spcAft>
            </a:pPr>
            <a:r>
              <a:rPr lang="es-ES" sz="2000" dirty="0">
                <a:cs typeface="Arial" pitchFamily="34" charset="0"/>
              </a:rPr>
              <a:t>          Si NUMERO&gt;0</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cs typeface="Arial" pitchFamily="34" charset="0"/>
              </a:rPr>
              <a:t>               </a:t>
            </a:r>
            <a:r>
              <a:rPr lang="es-ES" sz="2000" dirty="0">
                <a:cs typeface="Arial" pitchFamily="34" charset="0"/>
              </a:rPr>
              <a:t>Escribir</a:t>
            </a:r>
            <a:r>
              <a:rPr kumimoji="0" lang="es-ES" sz="2000" b="0" i="0" u="none" strike="noStrike" cap="none" normalizeH="0" dirty="0">
                <a:ln>
                  <a:noFill/>
                </a:ln>
                <a:solidFill>
                  <a:schemeClr val="tx1"/>
                </a:solidFill>
                <a:effectLst/>
                <a:cs typeface="Arial" pitchFamily="34" charset="0"/>
              </a:rPr>
              <a:t> “</a:t>
            </a:r>
            <a:r>
              <a:rPr lang="es-ES" sz="2000" dirty="0">
                <a:cs typeface="Arial" pitchFamily="34" charset="0"/>
              </a:rPr>
              <a:t>Número positivo</a:t>
            </a:r>
            <a:r>
              <a:rPr kumimoji="0" lang="es-ES" sz="2000" b="0" i="0" u="none" strike="noStrike" cap="none" normalizeH="0" dirty="0">
                <a:ln>
                  <a:noFill/>
                </a:ln>
                <a:solidFill>
                  <a:schemeClr val="tx1"/>
                </a:solidFill>
                <a:effectLs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dirty="0">
                <a:ln>
                  <a:noFill/>
                </a:ln>
                <a:solidFill>
                  <a:schemeClr val="tx1"/>
                </a:solidFill>
                <a:effectLst/>
                <a:cs typeface="Arial" pitchFamily="34" charset="0"/>
              </a:rPr>
              <a:t>          </a:t>
            </a:r>
            <a:r>
              <a:rPr lang="es-ES" sz="2000" dirty="0">
                <a:cs typeface="Arial" pitchFamily="34" charset="0"/>
              </a:rPr>
              <a:t>Sin</a:t>
            </a:r>
            <a:r>
              <a:rPr kumimoji="0" lang="es-ES" sz="2000" b="0" i="0" u="none" strike="noStrike" cap="none" normalizeH="0" dirty="0">
                <a:ln>
                  <a:noFill/>
                </a:ln>
                <a:solidFill>
                  <a:schemeClr val="tx1"/>
                </a:solidFill>
                <a:effectLst/>
                <a:cs typeface="Arial" pitchFamily="34" charset="0"/>
              </a:rPr>
              <a:t>o</a:t>
            </a:r>
          </a:p>
          <a:p>
            <a:pPr marL="0" marR="0" lvl="0" indent="0" algn="l" defTabSz="914400" rtl="0" eaLnBrk="1" fontAlgn="base" latinLnBrk="0" hangingPunct="1">
              <a:lnSpc>
                <a:spcPct val="100000"/>
              </a:lnSpc>
              <a:spcBef>
                <a:spcPct val="0"/>
              </a:spcBef>
              <a:spcAft>
                <a:spcPct val="0"/>
              </a:spcAft>
              <a:buClrTx/>
              <a:buSzTx/>
              <a:buFontTx/>
              <a:buNone/>
              <a:tabLst/>
            </a:pPr>
            <a:r>
              <a:rPr lang="es-ES" sz="2000" dirty="0">
                <a:cs typeface="Arial" pitchFamily="34" charset="0"/>
              </a:rPr>
              <a:t>               Escribir “Número negativo”</a:t>
            </a:r>
            <a:endParaRPr kumimoji="0" lang="es-ES" sz="2000" b="0" i="0" u="none" strike="noStrike" cap="none" normalizeH="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ES" sz="2000" baseline="0" dirty="0">
                <a:cs typeface="Arial" pitchFamily="34" charset="0"/>
              </a:rPr>
              <a:t>          </a:t>
            </a:r>
            <a:r>
              <a:rPr lang="es-ES" sz="2000" dirty="0" err="1">
                <a:cs typeface="Arial" pitchFamily="34" charset="0"/>
              </a:rPr>
              <a:t>Finsi</a:t>
            </a:r>
            <a:endParaRPr lang="es-ES" sz="2000" dirty="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cs typeface="Arial" pitchFamily="34" charset="0"/>
              </a:rPr>
              <a:t>     </a:t>
            </a:r>
            <a:r>
              <a:rPr lang="es-ES" sz="2000" dirty="0" err="1">
                <a:cs typeface="Arial" pitchFamily="34" charset="0"/>
              </a:rPr>
              <a:t>Fin</a:t>
            </a:r>
            <a:r>
              <a:rPr kumimoji="0" lang="es-ES" sz="2000" b="0" i="0" u="none" strike="noStrike" cap="none" normalizeH="0" baseline="0" dirty="0" err="1">
                <a:ln>
                  <a:noFill/>
                </a:ln>
                <a:solidFill>
                  <a:schemeClr val="tx1"/>
                </a:solidFill>
                <a:effectLst/>
                <a:cs typeface="Arial" pitchFamily="34" charset="0"/>
              </a:rPr>
              <a:t>si</a:t>
            </a:r>
            <a:endParaRPr kumimoji="0" lang="es-ES" sz="20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1" i="0" u="none" strike="noStrike" cap="none" normalizeH="0" baseline="0" dirty="0">
                <a:ln>
                  <a:noFill/>
                </a:ln>
                <a:solidFill>
                  <a:schemeClr val="tx1"/>
                </a:solidFill>
                <a:effectLst/>
                <a:cs typeface="Arial" pitchFamily="34" charset="0"/>
              </a:rPr>
              <a:t>Fin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MX" sz="2000" b="0" i="0" u="none" strike="noStrike" cap="none" normalizeH="0" baseline="0" dirty="0">
              <a:ln>
                <a:noFill/>
              </a:ln>
              <a:solidFill>
                <a:schemeClr val="tx1"/>
              </a:solidFill>
              <a:effectLst/>
              <a:cs typeface="Arial" pitchFamily="34" charset="0"/>
            </a:endParaRPr>
          </a:p>
        </p:txBody>
      </p:sp>
      <p:pic>
        <p:nvPicPr>
          <p:cNvPr id="5" name="4 Imagen"/>
          <p:cNvPicPr/>
          <p:nvPr/>
        </p:nvPicPr>
        <p:blipFill>
          <a:blip r:embed="rId2" cstate="print"/>
          <a:srcRect/>
          <a:stretch>
            <a:fillRect/>
          </a:stretch>
        </p:blipFill>
        <p:spPr bwMode="auto">
          <a:xfrm>
            <a:off x="4558630" y="1988839"/>
            <a:ext cx="3973810" cy="3978002"/>
          </a:xfrm>
          <a:prstGeom prst="rect">
            <a:avLst/>
          </a:prstGeom>
          <a:noFill/>
          <a:ln w="9525">
            <a:noFill/>
            <a:miter lim="800000"/>
            <a:headEnd/>
            <a:tailEnd/>
          </a:ln>
        </p:spPr>
      </p:pic>
    </p:spTree>
    <p:extLst>
      <p:ext uri="{BB962C8B-B14F-4D97-AF65-F5344CB8AC3E}">
        <p14:creationId xmlns:p14="http://schemas.microsoft.com/office/powerpoint/2010/main" val="1866967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552" y="1412776"/>
            <a:ext cx="8064896" cy="2769989"/>
          </a:xfrm>
          <a:prstGeom prst="rect">
            <a:avLst/>
          </a:prstGeom>
        </p:spPr>
        <p:txBody>
          <a:bodyPr wrap="square">
            <a:spAutoFit/>
          </a:bodyPr>
          <a:lstStyle/>
          <a:p>
            <a:pPr marL="457200" indent="-457200" algn="just"/>
            <a:r>
              <a:rPr lang="es-ES" sz="2900" b="1" dirty="0"/>
              <a:t>2.3.2.3 Repetitivas:  </a:t>
            </a:r>
            <a:r>
              <a:rPr lang="es-MX" sz="2900" dirty="0"/>
              <a:t>Este tipo de estructura se utilizan para ejecutar acciones repetidamente, esto se hace posible mediante una secuencia de instrucciones que se repiten una y otra vez y así evitamos escribir múltiples veces las mismas instrucciones.</a:t>
            </a:r>
            <a:endParaRPr lang="es-ES" sz="2900" dirty="0"/>
          </a:p>
        </p:txBody>
      </p:sp>
    </p:spTree>
    <p:extLst>
      <p:ext uri="{BB962C8B-B14F-4D97-AF65-F5344CB8AC3E}">
        <p14:creationId xmlns:p14="http://schemas.microsoft.com/office/powerpoint/2010/main" val="1866967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332656"/>
            <a:ext cx="7776864" cy="3693319"/>
          </a:xfrm>
          <a:prstGeom prst="rect">
            <a:avLst/>
          </a:prstGeom>
        </p:spPr>
        <p:txBody>
          <a:bodyPr wrap="square">
            <a:spAutoFit/>
          </a:bodyPr>
          <a:lstStyle/>
          <a:p>
            <a:pPr marL="457200" indent="-457200"/>
            <a:r>
              <a:rPr lang="es-ES" sz="2600" b="1" dirty="0"/>
              <a:t>3) Repetitiva</a:t>
            </a:r>
          </a:p>
          <a:p>
            <a:pPr marL="914400" lvl="1" indent="-457200">
              <a:buFont typeface="Wingdings" pitchFamily="2" charset="2"/>
              <a:buChar char="ü"/>
            </a:pPr>
            <a:r>
              <a:rPr lang="es-ES" sz="2600" b="1" dirty="0"/>
              <a:t>Para</a:t>
            </a:r>
          </a:p>
          <a:p>
            <a:pPr marL="457200" indent="-457200" algn="just"/>
            <a:r>
              <a:rPr lang="es-MX" sz="2600" dirty="0"/>
              <a:t>	</a:t>
            </a:r>
            <a:r>
              <a:rPr lang="es-MX" sz="2600" dirty="0">
                <a:solidFill>
                  <a:srgbClr val="000000"/>
                </a:solidFill>
              </a:rPr>
              <a:t>Esta estructura ejecuta los pasos de la solución del algoritmo un número definido de veces y de modo automático controla el número de iteraciones o pasos a través del cuerpo del ciclo. Para el control se utiliza un contador en el cual se va acumulando el número de veces que se ha repetido las instrucciones.</a:t>
            </a:r>
            <a:endParaRPr lang="es-MX" sz="2600" dirty="0"/>
          </a:p>
        </p:txBody>
      </p:sp>
      <p:sp>
        <p:nvSpPr>
          <p:cNvPr id="21" name="Text Box 3"/>
          <p:cNvSpPr txBox="1">
            <a:spLocks noChangeArrowheads="1"/>
          </p:cNvSpPr>
          <p:nvPr/>
        </p:nvSpPr>
        <p:spPr bwMode="auto">
          <a:xfrm>
            <a:off x="1763688" y="3933056"/>
            <a:ext cx="2808312" cy="2232248"/>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2000" b="0" i="0" u="none" strike="noStrike" cap="none" normalizeH="0" baseline="0" dirty="0">
                <a:ln>
                  <a:noFill/>
                </a:ln>
                <a:solidFill>
                  <a:schemeClr val="tx1"/>
                </a:solidFill>
                <a:effectLst/>
                <a:cs typeface="Arial" pitchFamily="34" charset="0"/>
              </a:rPr>
              <a:t>Hacer para V.C</a:t>
            </a:r>
            <a:r>
              <a:rPr lang="es-MX" sz="2000" dirty="0">
                <a:cs typeface="Arial" pitchFamily="34" charset="0"/>
              </a:rPr>
              <a:t> = LI a L.S</a:t>
            </a:r>
          </a:p>
          <a:p>
            <a:pPr marL="0" marR="0" lvl="0" indent="0" algn="l" defTabSz="914400" rtl="0" eaLnBrk="1" fontAlgn="base" latinLnBrk="0" hangingPunct="1">
              <a:lnSpc>
                <a:spcPct val="100000"/>
              </a:lnSpc>
              <a:spcBef>
                <a:spcPct val="0"/>
              </a:spcBef>
              <a:spcAft>
                <a:spcPct val="0"/>
              </a:spcAft>
              <a:buClrTx/>
              <a:buSzTx/>
              <a:buFontTx/>
              <a:buNone/>
              <a:tabLst/>
            </a:pPr>
            <a:r>
              <a:rPr kumimoji="0" lang="es-MX" sz="2000" b="0" i="0" u="none" strike="noStrike" cap="none" normalizeH="0" baseline="0" dirty="0">
                <a:ln>
                  <a:noFill/>
                </a:ln>
                <a:solidFill>
                  <a:schemeClr val="tx1"/>
                </a:solidFill>
                <a:effectLst/>
                <a:cs typeface="Arial" pitchFamily="34" charset="0"/>
              </a:rPr>
              <a:t>	Acción1</a:t>
            </a:r>
          </a:p>
          <a:p>
            <a:pPr marL="0" marR="0" lvl="0" indent="0" algn="l" defTabSz="914400" rtl="0" eaLnBrk="1" fontAlgn="base" latinLnBrk="0" hangingPunct="1">
              <a:lnSpc>
                <a:spcPct val="100000"/>
              </a:lnSpc>
              <a:spcBef>
                <a:spcPct val="0"/>
              </a:spcBef>
              <a:spcAft>
                <a:spcPct val="0"/>
              </a:spcAft>
              <a:buClrTx/>
              <a:buSzTx/>
              <a:buFontTx/>
              <a:buNone/>
              <a:tabLst/>
            </a:pPr>
            <a:r>
              <a:rPr lang="es-MX" sz="2000" dirty="0">
                <a:cs typeface="Arial" pitchFamily="34" charset="0"/>
              </a:rPr>
              <a:t>	Acción2</a:t>
            </a:r>
          </a:p>
          <a:p>
            <a:pPr marL="0" marR="0" lvl="0" indent="0" algn="l" defTabSz="914400" rtl="0" eaLnBrk="1" fontAlgn="base" latinLnBrk="0" hangingPunct="1">
              <a:lnSpc>
                <a:spcPct val="100000"/>
              </a:lnSpc>
              <a:spcBef>
                <a:spcPct val="0"/>
              </a:spcBef>
              <a:spcAft>
                <a:spcPct val="0"/>
              </a:spcAft>
              <a:buClrTx/>
              <a:buSzTx/>
              <a:buFontTx/>
              <a:buNone/>
              <a:tabLst/>
            </a:pPr>
            <a:r>
              <a:rPr kumimoji="0" lang="es-MX" sz="2000" b="0" i="0" u="none" strike="noStrike" cap="none" normalizeH="0" baseline="0" dirty="0">
                <a:ln>
                  <a:noFill/>
                </a:ln>
                <a:solidFill>
                  <a:schemeClr val="tx1"/>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s-MX" sz="2000" dirty="0">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s-MX" sz="2000" b="0" i="0" u="none" strike="noStrike" cap="none" normalizeH="0" baseline="0" dirty="0">
                <a:ln>
                  <a:noFill/>
                </a:ln>
                <a:solidFill>
                  <a:schemeClr val="tx1"/>
                </a:solidFill>
                <a:effectLst/>
                <a:cs typeface="Arial" pitchFamily="34" charset="0"/>
              </a:rPr>
              <a:t>	</a:t>
            </a:r>
            <a:r>
              <a:rPr kumimoji="0" lang="es-MX" sz="2000" b="0" i="0" u="none" strike="noStrike" cap="none" normalizeH="0" baseline="0" dirty="0" err="1">
                <a:ln>
                  <a:noFill/>
                </a:ln>
                <a:solidFill>
                  <a:schemeClr val="tx1"/>
                </a:solidFill>
                <a:effectLst/>
                <a:cs typeface="Arial" pitchFamily="34" charset="0"/>
              </a:rPr>
              <a:t>AcciónN</a:t>
            </a:r>
            <a:endParaRPr kumimoji="0" lang="es-MX" sz="2000" b="0" i="0" u="none" strike="noStrike" cap="none" normalizeH="0" baseline="0" dirty="0">
              <a:ln>
                <a:noFill/>
              </a:ln>
              <a:solidFill>
                <a:schemeClr val="tx1"/>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MX" sz="2000" dirty="0">
                <a:cs typeface="Arial" pitchFamily="34" charset="0"/>
              </a:rPr>
              <a:t>Fin para</a:t>
            </a:r>
            <a:endParaRPr kumimoji="0" lang="es-MX" sz="2000" b="0" i="0" u="none" strike="noStrike" cap="none" normalizeH="0" baseline="0" dirty="0">
              <a:ln>
                <a:noFill/>
              </a:ln>
              <a:solidFill>
                <a:schemeClr val="tx1"/>
              </a:solidFill>
              <a:effectLst/>
              <a:cs typeface="Arial" pitchFamily="34" charset="0"/>
            </a:endParaRPr>
          </a:p>
        </p:txBody>
      </p:sp>
      <p:sp>
        <p:nvSpPr>
          <p:cNvPr id="22" name="Text Box 3"/>
          <p:cNvSpPr txBox="1">
            <a:spLocks noChangeArrowheads="1"/>
          </p:cNvSpPr>
          <p:nvPr/>
        </p:nvSpPr>
        <p:spPr bwMode="auto">
          <a:xfrm>
            <a:off x="5148064" y="4581128"/>
            <a:ext cx="2808312" cy="936104"/>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es-MX" sz="1600" dirty="0">
                <a:cs typeface="Arial" pitchFamily="34" charset="0"/>
              </a:rPr>
              <a:t>V.C  Variable de control de ciclo</a:t>
            </a:r>
          </a:p>
          <a:p>
            <a:pPr marL="0" marR="0" lvl="0" indent="0" algn="l" defTabSz="914400" rtl="0" eaLnBrk="1" fontAlgn="base" latinLnBrk="0" hangingPunct="1">
              <a:lnSpc>
                <a:spcPct val="100000"/>
              </a:lnSpc>
              <a:spcBef>
                <a:spcPct val="0"/>
              </a:spcBef>
              <a:spcAft>
                <a:spcPct val="0"/>
              </a:spcAft>
              <a:buClrTx/>
              <a:buSzTx/>
              <a:buFontTx/>
              <a:buNone/>
              <a:tabLst/>
            </a:pPr>
            <a:r>
              <a:rPr lang="es-MX" sz="1600" dirty="0">
                <a:cs typeface="Arial" pitchFamily="34" charset="0"/>
              </a:rPr>
              <a:t>L.I  Límite inferior</a:t>
            </a:r>
          </a:p>
          <a:p>
            <a:pPr marL="0" marR="0" lvl="0" indent="0" algn="l" defTabSz="914400" rtl="0" eaLnBrk="1" fontAlgn="base" latinLnBrk="0" hangingPunct="1">
              <a:lnSpc>
                <a:spcPct val="100000"/>
              </a:lnSpc>
              <a:spcBef>
                <a:spcPct val="0"/>
              </a:spcBef>
              <a:spcAft>
                <a:spcPct val="0"/>
              </a:spcAft>
              <a:buClrTx/>
              <a:buSzTx/>
              <a:buFontTx/>
              <a:buNone/>
              <a:tabLst/>
            </a:pPr>
            <a:r>
              <a:rPr lang="es-MX" sz="1600" dirty="0">
                <a:cs typeface="Arial" pitchFamily="34" charset="0"/>
              </a:rPr>
              <a:t>L.S  Límite superior</a:t>
            </a:r>
          </a:p>
        </p:txBody>
      </p:sp>
    </p:spTree>
    <p:extLst>
      <p:ext uri="{BB962C8B-B14F-4D97-AF65-F5344CB8AC3E}">
        <p14:creationId xmlns:p14="http://schemas.microsoft.com/office/powerpoint/2010/main" val="186696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908720"/>
            <a:ext cx="7776864" cy="1292662"/>
          </a:xfrm>
          <a:prstGeom prst="rect">
            <a:avLst/>
          </a:prstGeom>
        </p:spPr>
        <p:txBody>
          <a:bodyPr wrap="square">
            <a:spAutoFit/>
          </a:bodyPr>
          <a:lstStyle/>
          <a:p>
            <a:pPr marL="457200" indent="-457200"/>
            <a:r>
              <a:rPr lang="es-ES" sz="2600" b="1" dirty="0"/>
              <a:t>3) Repetitiva Para</a:t>
            </a:r>
          </a:p>
          <a:p>
            <a:pPr marL="457200" indent="-457200"/>
            <a:r>
              <a:rPr lang="es-ES" sz="2600" dirty="0"/>
              <a:t>Ejemplo:</a:t>
            </a:r>
            <a:endParaRPr lang="es-ES" sz="2600" b="1" dirty="0"/>
          </a:p>
          <a:p>
            <a:pPr marL="457200" indent="-457200" algn="just"/>
            <a:r>
              <a:rPr lang="es-MX" sz="2600" dirty="0"/>
              <a:t>	</a:t>
            </a:r>
          </a:p>
        </p:txBody>
      </p:sp>
      <p:sp>
        <p:nvSpPr>
          <p:cNvPr id="5" name="4 Rectángulo"/>
          <p:cNvSpPr/>
          <p:nvPr/>
        </p:nvSpPr>
        <p:spPr>
          <a:xfrm>
            <a:off x="683568" y="1916832"/>
            <a:ext cx="8064896" cy="492443"/>
          </a:xfrm>
          <a:prstGeom prst="rect">
            <a:avLst/>
          </a:prstGeom>
        </p:spPr>
        <p:txBody>
          <a:bodyPr wrap="square">
            <a:spAutoFit/>
          </a:bodyPr>
          <a:lstStyle/>
          <a:p>
            <a:pPr marL="457200" indent="-457200"/>
            <a:r>
              <a:rPr lang="es-ES" sz="2600" b="1" dirty="0"/>
              <a:t>	Pseudocódigo				</a:t>
            </a:r>
          </a:p>
        </p:txBody>
      </p:sp>
      <p:sp>
        <p:nvSpPr>
          <p:cNvPr id="3" name="2 Rectángulo"/>
          <p:cNvSpPr/>
          <p:nvPr/>
        </p:nvSpPr>
        <p:spPr>
          <a:xfrm>
            <a:off x="323528" y="2838415"/>
            <a:ext cx="8820472" cy="2246769"/>
          </a:xfrm>
          <a:prstGeom prst="rect">
            <a:avLst/>
          </a:prstGeom>
        </p:spPr>
        <p:txBody>
          <a:bodyPr wrap="square">
            <a:spAutoFit/>
          </a:bodyPr>
          <a:lstStyle/>
          <a:p>
            <a:r>
              <a:rPr lang="es-MX" sz="2000" dirty="0"/>
              <a:t>Proceso </a:t>
            </a:r>
            <a:r>
              <a:rPr lang="es-MX" sz="2000" dirty="0" err="1"/>
              <a:t>sin_titulo</a:t>
            </a:r>
            <a:endParaRPr lang="es-MX" sz="2000" dirty="0"/>
          </a:p>
          <a:p>
            <a:r>
              <a:rPr lang="es-MX" sz="2000" dirty="0"/>
              <a:t>	Para DATOS&lt;-1 Hasta 5 Con Paso 1 Hacer</a:t>
            </a:r>
          </a:p>
          <a:p>
            <a:r>
              <a:rPr lang="es-MX" sz="2000" dirty="0"/>
              <a:t>		Leer NUM1,NUM2;</a:t>
            </a:r>
          </a:p>
          <a:p>
            <a:r>
              <a:rPr lang="es-MX" sz="2000" dirty="0"/>
              <a:t>		SUMA&lt;-NUM1+NUM2;</a:t>
            </a:r>
          </a:p>
          <a:p>
            <a:r>
              <a:rPr lang="es-MX" sz="2000" dirty="0"/>
              <a:t>		Escribir "el resultado de sumar ",NUM1," + ",NUM2," = ",SUMA;</a:t>
            </a:r>
          </a:p>
          <a:p>
            <a:r>
              <a:rPr lang="es-MX" sz="2000" dirty="0"/>
              <a:t>	</a:t>
            </a:r>
            <a:r>
              <a:rPr lang="es-MX" sz="2000" dirty="0" err="1"/>
              <a:t>FinPara</a:t>
            </a:r>
            <a:endParaRPr lang="es-MX" sz="2000" dirty="0"/>
          </a:p>
          <a:p>
            <a:r>
              <a:rPr lang="es-MX" sz="2000" dirty="0" err="1"/>
              <a:t>FinProceso</a:t>
            </a:r>
            <a:endParaRPr lang="es-MX" sz="2000" dirty="0"/>
          </a:p>
        </p:txBody>
      </p:sp>
    </p:spTree>
    <p:extLst>
      <p:ext uri="{BB962C8B-B14F-4D97-AF65-F5344CB8AC3E}">
        <p14:creationId xmlns:p14="http://schemas.microsoft.com/office/powerpoint/2010/main" val="3327478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908720"/>
            <a:ext cx="7776864" cy="1292662"/>
          </a:xfrm>
          <a:prstGeom prst="rect">
            <a:avLst/>
          </a:prstGeom>
        </p:spPr>
        <p:txBody>
          <a:bodyPr wrap="square">
            <a:spAutoFit/>
          </a:bodyPr>
          <a:lstStyle/>
          <a:p>
            <a:pPr marL="457200" indent="-457200"/>
            <a:r>
              <a:rPr lang="es-ES" sz="2600" b="1" dirty="0"/>
              <a:t>3) Repetitiva Para</a:t>
            </a:r>
          </a:p>
          <a:p>
            <a:pPr marL="457200" indent="-457200"/>
            <a:r>
              <a:rPr lang="es-ES" sz="2600" dirty="0"/>
              <a:t>Ejemplo:</a:t>
            </a:r>
            <a:endParaRPr lang="es-ES" sz="2600" b="1" dirty="0"/>
          </a:p>
          <a:p>
            <a:pPr marL="457200" indent="-457200" algn="just"/>
            <a:r>
              <a:rPr lang="es-MX" sz="2600" dirty="0"/>
              <a:t>	</a:t>
            </a:r>
          </a:p>
        </p:txBody>
      </p:sp>
      <p:sp>
        <p:nvSpPr>
          <p:cNvPr id="5" name="4 Rectángulo"/>
          <p:cNvSpPr/>
          <p:nvPr/>
        </p:nvSpPr>
        <p:spPr>
          <a:xfrm>
            <a:off x="1547664" y="2636912"/>
            <a:ext cx="2664296" cy="892552"/>
          </a:xfrm>
          <a:prstGeom prst="rect">
            <a:avLst/>
          </a:prstGeom>
        </p:spPr>
        <p:txBody>
          <a:bodyPr wrap="square">
            <a:spAutoFit/>
          </a:bodyPr>
          <a:lstStyle/>
          <a:p>
            <a:pPr marL="457200" indent="-457200"/>
            <a:r>
              <a:rPr lang="es-ES" sz="2600" b="1" dirty="0"/>
              <a:t>	DFD</a:t>
            </a:r>
          </a:p>
          <a:p>
            <a:pPr marL="457200" indent="-457200"/>
            <a:r>
              <a:rPr lang="es-ES" sz="2600" b="1" dirty="0"/>
              <a:t>			</a:t>
            </a:r>
          </a:p>
        </p:txBody>
      </p:sp>
      <p:pic>
        <p:nvPicPr>
          <p:cNvPr id="6"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500" t="13095" r="40179" b="10318"/>
          <a:stretch/>
        </p:blipFill>
        <p:spPr bwMode="auto">
          <a:xfrm>
            <a:off x="3995936" y="188640"/>
            <a:ext cx="4032448"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9532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476672"/>
            <a:ext cx="7776864" cy="5693866"/>
          </a:xfrm>
          <a:prstGeom prst="rect">
            <a:avLst/>
          </a:prstGeom>
        </p:spPr>
        <p:txBody>
          <a:bodyPr wrap="square">
            <a:spAutoFit/>
          </a:bodyPr>
          <a:lstStyle/>
          <a:p>
            <a:pPr marL="457200" indent="-457200"/>
            <a:r>
              <a:rPr lang="es-ES" sz="2600" b="1" dirty="0"/>
              <a:t>3) Repetitiva</a:t>
            </a:r>
          </a:p>
          <a:p>
            <a:pPr marL="914400" lvl="1" indent="-457200">
              <a:buFont typeface="Wingdings" pitchFamily="2" charset="2"/>
              <a:buChar char="ü"/>
            </a:pPr>
            <a:r>
              <a:rPr lang="es-ES" sz="2600" b="1" dirty="0"/>
              <a:t>Mientras</a:t>
            </a:r>
          </a:p>
          <a:p>
            <a:pPr marL="457200" indent="-457200" algn="just"/>
            <a:r>
              <a:rPr lang="es-MX" sz="2600" dirty="0"/>
              <a:t>	Este se utiliza cuando </a:t>
            </a:r>
            <a:r>
              <a:rPr lang="es-MX" sz="2600" dirty="0">
                <a:solidFill>
                  <a:schemeClr val="accent6">
                    <a:lumMod val="75000"/>
                  </a:schemeClr>
                </a:solidFill>
              </a:rPr>
              <a:t>NO</a:t>
            </a:r>
            <a:r>
              <a:rPr lang="es-MX" sz="2600" dirty="0"/>
              <a:t> sabemos el número de veces que se ha de repetir un ciclo, los ciclos se determinan por una  condición que se evalúa al inicio del ciclo, es decir, antes de ejecutarse todas los pasos.</a:t>
            </a:r>
          </a:p>
          <a:p>
            <a:pPr marL="457200" indent="-457200" algn="just"/>
            <a:r>
              <a:rPr lang="es-MX" sz="2600" dirty="0"/>
              <a:t>			Hacer  mientras &lt;condición&gt;</a:t>
            </a:r>
          </a:p>
          <a:p>
            <a:pPr marL="457200" indent="-457200" algn="just"/>
            <a:r>
              <a:rPr lang="es-MX" sz="2600" dirty="0"/>
              <a:t>				Accion1</a:t>
            </a:r>
          </a:p>
          <a:p>
            <a:pPr marL="457200" indent="-457200" algn="just"/>
            <a:r>
              <a:rPr lang="es-MX" sz="2600" dirty="0"/>
              <a:t>				Accion2</a:t>
            </a:r>
          </a:p>
          <a:p>
            <a:pPr marL="457200" indent="-457200" algn="just"/>
            <a:r>
              <a:rPr lang="es-MX" sz="2600" dirty="0"/>
              <a:t>				.</a:t>
            </a:r>
          </a:p>
          <a:p>
            <a:pPr marL="457200" indent="-457200" algn="just"/>
            <a:r>
              <a:rPr lang="es-MX" sz="2600" dirty="0"/>
              <a:t>				.</a:t>
            </a:r>
          </a:p>
          <a:p>
            <a:pPr marL="457200" indent="-457200" algn="just"/>
            <a:r>
              <a:rPr lang="es-MX" sz="2600" dirty="0"/>
              <a:t>				</a:t>
            </a:r>
            <a:r>
              <a:rPr lang="es-MX" sz="2600" dirty="0" err="1"/>
              <a:t>AccionN</a:t>
            </a:r>
            <a:endParaRPr lang="es-MX" sz="2600" dirty="0"/>
          </a:p>
          <a:p>
            <a:pPr marL="457200" indent="-457200" algn="just"/>
            <a:r>
              <a:rPr lang="es-MX" sz="2600" dirty="0"/>
              <a:t>			Fin-mientras</a:t>
            </a:r>
          </a:p>
        </p:txBody>
      </p:sp>
    </p:spTree>
    <p:extLst>
      <p:ext uri="{BB962C8B-B14F-4D97-AF65-F5344CB8AC3E}">
        <p14:creationId xmlns:p14="http://schemas.microsoft.com/office/powerpoint/2010/main" val="1866967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908720"/>
            <a:ext cx="7776864" cy="892552"/>
          </a:xfrm>
          <a:prstGeom prst="rect">
            <a:avLst/>
          </a:prstGeom>
        </p:spPr>
        <p:txBody>
          <a:bodyPr wrap="square">
            <a:spAutoFit/>
          </a:bodyPr>
          <a:lstStyle/>
          <a:p>
            <a:pPr marL="457200" indent="-457200"/>
            <a:r>
              <a:rPr lang="es-ES" sz="2600" b="1" dirty="0"/>
              <a:t>3) Repetitiva Mientras</a:t>
            </a:r>
          </a:p>
          <a:p>
            <a:pPr marL="457200" indent="-457200"/>
            <a:r>
              <a:rPr lang="es-ES" sz="2600" dirty="0"/>
              <a:t>Ejemplo</a:t>
            </a:r>
          </a:p>
        </p:txBody>
      </p:sp>
      <p:sp>
        <p:nvSpPr>
          <p:cNvPr id="3" name="2 Rectángulo"/>
          <p:cNvSpPr/>
          <p:nvPr/>
        </p:nvSpPr>
        <p:spPr>
          <a:xfrm>
            <a:off x="683568" y="1916832"/>
            <a:ext cx="8064896" cy="492443"/>
          </a:xfrm>
          <a:prstGeom prst="rect">
            <a:avLst/>
          </a:prstGeom>
        </p:spPr>
        <p:txBody>
          <a:bodyPr wrap="square">
            <a:spAutoFit/>
          </a:bodyPr>
          <a:lstStyle/>
          <a:p>
            <a:pPr marL="457200" indent="-457200"/>
            <a:r>
              <a:rPr lang="es-ES" sz="2600" b="1" dirty="0"/>
              <a:t>	Pseudocódigo				</a:t>
            </a:r>
          </a:p>
        </p:txBody>
      </p:sp>
      <p:sp>
        <p:nvSpPr>
          <p:cNvPr id="4" name="3 Rectángulo"/>
          <p:cNvSpPr/>
          <p:nvPr/>
        </p:nvSpPr>
        <p:spPr>
          <a:xfrm>
            <a:off x="827584" y="2420888"/>
            <a:ext cx="7632848" cy="3647152"/>
          </a:xfrm>
          <a:prstGeom prst="rect">
            <a:avLst/>
          </a:prstGeom>
        </p:spPr>
        <p:txBody>
          <a:bodyPr wrap="square">
            <a:spAutoFit/>
          </a:bodyPr>
          <a:lstStyle/>
          <a:p>
            <a:r>
              <a:rPr lang="es-MX" sz="2100" dirty="0"/>
              <a:t>Proceso </a:t>
            </a:r>
            <a:r>
              <a:rPr lang="es-MX" sz="2100" dirty="0" err="1"/>
              <a:t>sin_titulo</a:t>
            </a:r>
            <a:endParaRPr lang="es-MX" sz="2100" dirty="0"/>
          </a:p>
          <a:p>
            <a:r>
              <a:rPr lang="es-MX" sz="2100" dirty="0"/>
              <a:t>	Escribir "Hay alumno";</a:t>
            </a:r>
          </a:p>
          <a:p>
            <a:r>
              <a:rPr lang="es-MX" sz="2100" dirty="0"/>
              <a:t>	Leer ALUM;</a:t>
            </a:r>
          </a:p>
          <a:p>
            <a:r>
              <a:rPr lang="es-MX" sz="2100" dirty="0"/>
              <a:t>	Mientras ALUM="s" Hacer</a:t>
            </a:r>
          </a:p>
          <a:p>
            <a:r>
              <a:rPr lang="es-MX" sz="2100" dirty="0"/>
              <a:t>		</a:t>
            </a:r>
            <a:r>
              <a:rPr lang="en-US" sz="2100" dirty="0"/>
              <a:t>Leer CALIF1,CALIF2;</a:t>
            </a:r>
            <a:endParaRPr lang="es-MX" sz="2100" dirty="0"/>
          </a:p>
          <a:p>
            <a:r>
              <a:rPr lang="en-US" sz="2100" dirty="0"/>
              <a:t>		PROM&lt;-(CALIF1+CALIF2)/2;</a:t>
            </a:r>
            <a:endParaRPr lang="es-MX" sz="2100" dirty="0"/>
          </a:p>
          <a:p>
            <a:r>
              <a:rPr lang="en-US" sz="2100" dirty="0"/>
              <a:t>		</a:t>
            </a:r>
            <a:r>
              <a:rPr lang="es-MX" sz="2100" dirty="0"/>
              <a:t>Escribir "El promedio del alumno es ",PROM;</a:t>
            </a:r>
          </a:p>
          <a:p>
            <a:r>
              <a:rPr lang="es-MX" sz="2100" dirty="0"/>
              <a:t>		Escribir "Hay alumno";</a:t>
            </a:r>
          </a:p>
          <a:p>
            <a:r>
              <a:rPr lang="es-MX" sz="2100" dirty="0"/>
              <a:t>		Leer ALUM;</a:t>
            </a:r>
          </a:p>
          <a:p>
            <a:r>
              <a:rPr lang="es-MX" sz="2100" dirty="0"/>
              <a:t>	</a:t>
            </a:r>
            <a:r>
              <a:rPr lang="es-MX" sz="2100" dirty="0" err="1"/>
              <a:t>FinMientras</a:t>
            </a:r>
            <a:endParaRPr lang="es-MX" sz="2100" dirty="0"/>
          </a:p>
          <a:p>
            <a:r>
              <a:rPr lang="es-MX" sz="2100" dirty="0" err="1"/>
              <a:t>FinProceso</a:t>
            </a:r>
            <a:endParaRPr lang="es-MX" sz="2100" dirty="0"/>
          </a:p>
        </p:txBody>
      </p:sp>
    </p:spTree>
    <p:extLst>
      <p:ext uri="{BB962C8B-B14F-4D97-AF65-F5344CB8AC3E}">
        <p14:creationId xmlns:p14="http://schemas.microsoft.com/office/powerpoint/2010/main" val="1049514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1166843"/>
            <a:ext cx="7776864" cy="892552"/>
          </a:xfrm>
          <a:prstGeom prst="rect">
            <a:avLst/>
          </a:prstGeom>
        </p:spPr>
        <p:txBody>
          <a:bodyPr wrap="square">
            <a:spAutoFit/>
          </a:bodyPr>
          <a:lstStyle/>
          <a:p>
            <a:pPr marL="457200" indent="-457200"/>
            <a:r>
              <a:rPr lang="es-ES" sz="2600" b="1" dirty="0"/>
              <a:t>3) Repetitiva Mientras</a:t>
            </a:r>
          </a:p>
          <a:p>
            <a:pPr marL="457200" indent="-457200"/>
            <a:r>
              <a:rPr lang="es-ES" sz="2600" dirty="0"/>
              <a:t>Ejemplo</a:t>
            </a:r>
          </a:p>
        </p:txBody>
      </p:sp>
      <p:sp>
        <p:nvSpPr>
          <p:cNvPr id="3" name="2 Rectángulo"/>
          <p:cNvSpPr/>
          <p:nvPr/>
        </p:nvSpPr>
        <p:spPr>
          <a:xfrm>
            <a:off x="1331640" y="2910837"/>
            <a:ext cx="2952328" cy="492443"/>
          </a:xfrm>
          <a:prstGeom prst="rect">
            <a:avLst/>
          </a:prstGeom>
        </p:spPr>
        <p:txBody>
          <a:bodyPr wrap="square">
            <a:spAutoFit/>
          </a:bodyPr>
          <a:lstStyle/>
          <a:p>
            <a:pPr marL="457200" indent="-457200"/>
            <a:r>
              <a:rPr lang="es-ES" sz="2600" b="1" dirty="0"/>
              <a:t>	DFD</a:t>
            </a:r>
          </a:p>
        </p:txBody>
      </p:sp>
      <p:pic>
        <p:nvPicPr>
          <p:cNvPr id="9" name="8 Imagen"/>
          <p:cNvPicPr/>
          <p:nvPr/>
        </p:nvPicPr>
        <p:blipFill rotWithShape="1">
          <a:blip r:embed="rId2" cstate="print">
            <a:extLst>
              <a:ext uri="{28A0092B-C50C-407E-A947-70E740481C1C}">
                <a14:useLocalDpi xmlns:a14="http://schemas.microsoft.com/office/drawing/2010/main" val="0"/>
              </a:ext>
            </a:extLst>
          </a:blip>
          <a:srcRect l="41766" t="47535" r="45501" b="37978"/>
          <a:stretch/>
        </p:blipFill>
        <p:spPr bwMode="auto">
          <a:xfrm>
            <a:off x="4148137" y="7174548"/>
            <a:ext cx="714375" cy="609600"/>
          </a:xfrm>
          <a:prstGeom prst="rect">
            <a:avLst/>
          </a:prstGeom>
          <a:ln>
            <a:noFill/>
          </a:ln>
          <a:extLst>
            <a:ext uri="{53640926-AAD7-44D8-BBD7-CCE9431645EC}">
              <a14:shadowObscured xmlns:a14="http://schemas.microsoft.com/office/drawing/2010/main"/>
            </a:ext>
          </a:extLst>
        </p:spPr>
      </p:pic>
      <p:pic>
        <p:nvPicPr>
          <p:cNvPr id="11" name="10 Imagen"/>
          <p:cNvPicPr/>
          <p:nvPr/>
        </p:nvPicPr>
        <p:blipFill rotWithShape="1">
          <a:blip r:embed="rId3" cstate="print"/>
          <a:srcRect l="39389" t="12450" r="43124" b="11269"/>
          <a:stretch/>
        </p:blipFill>
        <p:spPr bwMode="auto">
          <a:xfrm>
            <a:off x="4283968" y="116632"/>
            <a:ext cx="3956645" cy="60808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51088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8 Imagen"/>
          <p:cNvPicPr/>
          <p:nvPr/>
        </p:nvPicPr>
        <p:blipFill rotWithShape="1">
          <a:blip r:embed="rId2" cstate="print">
            <a:extLst>
              <a:ext uri="{28A0092B-C50C-407E-A947-70E740481C1C}">
                <a14:useLocalDpi xmlns:a14="http://schemas.microsoft.com/office/drawing/2010/main" val="0"/>
              </a:ext>
            </a:extLst>
          </a:blip>
          <a:srcRect l="41766" t="47535" r="45501" b="37978"/>
          <a:stretch/>
        </p:blipFill>
        <p:spPr bwMode="auto">
          <a:xfrm>
            <a:off x="4148137" y="7174548"/>
            <a:ext cx="714375" cy="609600"/>
          </a:xfrm>
          <a:prstGeom prst="rect">
            <a:avLst/>
          </a:prstGeom>
          <a:ln>
            <a:noFill/>
          </a:ln>
          <a:extLst>
            <a:ext uri="{53640926-AAD7-44D8-BBD7-CCE9431645EC}">
              <a14:shadowObscured xmlns:a14="http://schemas.microsoft.com/office/drawing/2010/main"/>
            </a:ext>
          </a:extLst>
        </p:spPr>
      </p:pic>
      <p:sp>
        <p:nvSpPr>
          <p:cNvPr id="5" name="CuadroTexto 4">
            <a:extLst>
              <a:ext uri="{FF2B5EF4-FFF2-40B4-BE49-F238E27FC236}">
                <a16:creationId xmlns:a16="http://schemas.microsoft.com/office/drawing/2014/main" id="{16F222BD-698D-EBB8-0358-F2721EC34518}"/>
              </a:ext>
            </a:extLst>
          </p:cNvPr>
          <p:cNvSpPr txBox="1"/>
          <p:nvPr/>
        </p:nvSpPr>
        <p:spPr>
          <a:xfrm>
            <a:off x="1475656" y="476672"/>
            <a:ext cx="6462464" cy="5355312"/>
          </a:xfrm>
          <a:prstGeom prst="rect">
            <a:avLst/>
          </a:prstGeom>
          <a:noFill/>
        </p:spPr>
        <p:txBody>
          <a:bodyPr wrap="square">
            <a:spAutoFit/>
          </a:bodyPr>
          <a:lstStyle/>
          <a:p>
            <a:r>
              <a:rPr lang="es-ES" dirty="0"/>
              <a:t>Imagina que debes calcular el total de gastos de un estudiante en un mes y no sabes con exactitud cuántos gastos fueron.​</a:t>
            </a:r>
          </a:p>
          <a:p>
            <a:endParaRPr lang="es-ES" dirty="0"/>
          </a:p>
          <a:p>
            <a:r>
              <a:rPr lang="es-ES" dirty="0"/>
              <a:t>Inicio de algoritmo</a:t>
            </a:r>
          </a:p>
          <a:p>
            <a:r>
              <a:rPr lang="es-ES" dirty="0"/>
              <a:t>    </a:t>
            </a:r>
            <a:r>
              <a:rPr lang="es-ES" dirty="0" err="1"/>
              <a:t>sumadegastos</a:t>
            </a:r>
            <a:r>
              <a:rPr lang="es-ES" dirty="0"/>
              <a:t> = 0;</a:t>
            </a:r>
          </a:p>
          <a:p>
            <a:r>
              <a:rPr lang="es-ES" dirty="0"/>
              <a:t>    gasto = 0;</a:t>
            </a:r>
          </a:p>
          <a:p>
            <a:r>
              <a:rPr lang="es-ES" dirty="0"/>
              <a:t>    respuesta = "si"; //(Instrucción que hace válida la condición a evaluar, la condición a evaluar es: Mientras respuesta = "si")</a:t>
            </a:r>
          </a:p>
          <a:p>
            <a:r>
              <a:rPr lang="es-ES" dirty="0"/>
              <a:t>    Mientras respuesta == "si" Hacer</a:t>
            </a:r>
          </a:p>
          <a:p>
            <a:r>
              <a:rPr lang="es-ES" dirty="0"/>
              <a:t>        Escribir "Introduce gasto";</a:t>
            </a:r>
          </a:p>
          <a:p>
            <a:r>
              <a:rPr lang="es-ES" dirty="0"/>
              <a:t>        Leer gasto;</a:t>
            </a:r>
          </a:p>
          <a:p>
            <a:r>
              <a:rPr lang="es-ES" dirty="0"/>
              <a:t>        </a:t>
            </a:r>
            <a:r>
              <a:rPr lang="es-ES" dirty="0" err="1"/>
              <a:t>sumadegastos</a:t>
            </a:r>
            <a:r>
              <a:rPr lang="es-ES" dirty="0"/>
              <a:t> = </a:t>
            </a:r>
            <a:r>
              <a:rPr lang="es-ES" dirty="0" err="1"/>
              <a:t>sumaDeGastos</a:t>
            </a:r>
            <a:r>
              <a:rPr lang="es-ES" dirty="0"/>
              <a:t> + gasto;</a:t>
            </a:r>
          </a:p>
          <a:p>
            <a:r>
              <a:rPr lang="es-ES" dirty="0"/>
              <a:t>        Escribir "Tiene otro gasto?";</a:t>
            </a:r>
          </a:p>
          <a:p>
            <a:r>
              <a:rPr lang="es-ES" dirty="0"/>
              <a:t>        Leer respuesta; //(Instrucción que afecta la condición, en cuanto la respuesta sea diferente a "si", el ciclo dejará de ejecutarse)</a:t>
            </a:r>
          </a:p>
          <a:p>
            <a:r>
              <a:rPr lang="es-ES" dirty="0"/>
              <a:t>    Fin mientras</a:t>
            </a:r>
          </a:p>
          <a:p>
            <a:r>
              <a:rPr lang="es-ES" dirty="0"/>
              <a:t>    Escribir "El total de gastos es:", </a:t>
            </a:r>
            <a:r>
              <a:rPr lang="es-ES" dirty="0" err="1"/>
              <a:t>sumaDeGastos</a:t>
            </a:r>
            <a:r>
              <a:rPr lang="es-ES" dirty="0"/>
              <a:t>;</a:t>
            </a:r>
          </a:p>
          <a:p>
            <a:r>
              <a:rPr lang="es-ES" dirty="0"/>
              <a:t>Fin de algoritmo</a:t>
            </a:r>
            <a:endParaRPr lang="en-US" dirty="0"/>
          </a:p>
        </p:txBody>
      </p:sp>
    </p:spTree>
    <p:extLst>
      <p:ext uri="{BB962C8B-B14F-4D97-AF65-F5344CB8AC3E}">
        <p14:creationId xmlns:p14="http://schemas.microsoft.com/office/powerpoint/2010/main" val="677275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980728"/>
            <a:ext cx="7776864" cy="5293757"/>
          </a:xfrm>
          <a:prstGeom prst="rect">
            <a:avLst/>
          </a:prstGeom>
        </p:spPr>
        <p:txBody>
          <a:bodyPr wrap="square">
            <a:spAutoFit/>
          </a:bodyPr>
          <a:lstStyle/>
          <a:p>
            <a:pPr marL="457200" indent="-457200"/>
            <a:r>
              <a:rPr lang="es-ES" sz="2600" b="1" dirty="0"/>
              <a:t>3) Repetitiva</a:t>
            </a:r>
          </a:p>
          <a:p>
            <a:pPr marL="914400" lvl="1" indent="-457200">
              <a:buFont typeface="Wingdings" pitchFamily="2" charset="2"/>
              <a:buChar char="ü"/>
            </a:pPr>
            <a:r>
              <a:rPr lang="es-ES" sz="2600" b="1" dirty="0"/>
              <a:t>Hacer – Mientras  ó Repetir</a:t>
            </a:r>
          </a:p>
          <a:p>
            <a:pPr marL="457200" indent="-457200" algn="just"/>
            <a:r>
              <a:rPr lang="es-MX" sz="2600" dirty="0"/>
              <a:t>	En esta estructura el ciclo se va a repetir hasta que la condición se cumpla, a diferencia de las estructuras anteriores la condición se escribe al finalizar la estructura.</a:t>
            </a:r>
          </a:p>
          <a:p>
            <a:pPr marL="457200" indent="-457200" algn="just"/>
            <a:r>
              <a:rPr lang="es-MX" sz="2600" dirty="0"/>
              <a:t>				Repetir</a:t>
            </a:r>
          </a:p>
          <a:p>
            <a:pPr marL="457200" indent="-457200" algn="just"/>
            <a:r>
              <a:rPr lang="es-MX" sz="2600" dirty="0"/>
              <a:t>					Accion1</a:t>
            </a:r>
          </a:p>
          <a:p>
            <a:pPr marL="457200" indent="-457200" algn="just"/>
            <a:r>
              <a:rPr lang="es-MX" sz="2600" dirty="0"/>
              <a:t>					Accion2</a:t>
            </a:r>
          </a:p>
          <a:p>
            <a:pPr marL="457200" indent="-457200" algn="just"/>
            <a:r>
              <a:rPr lang="es-MX" sz="2600" dirty="0"/>
              <a:t>					.</a:t>
            </a:r>
          </a:p>
          <a:p>
            <a:pPr marL="457200" indent="-457200" algn="just"/>
            <a:r>
              <a:rPr lang="es-MX" sz="2600" dirty="0"/>
              <a:t>					.</a:t>
            </a:r>
          </a:p>
          <a:p>
            <a:pPr marL="457200" indent="-457200" algn="just"/>
            <a:r>
              <a:rPr lang="es-MX" sz="2600" dirty="0"/>
              <a:t>					</a:t>
            </a:r>
            <a:r>
              <a:rPr lang="es-MX" sz="2600" dirty="0" err="1"/>
              <a:t>AccionN</a:t>
            </a:r>
            <a:endParaRPr lang="es-MX" sz="2600" dirty="0"/>
          </a:p>
          <a:p>
            <a:pPr marL="457200" indent="-457200" algn="just"/>
            <a:r>
              <a:rPr lang="es-MX" sz="2600" dirty="0"/>
              <a:t>				Hasta &lt;</a:t>
            </a:r>
            <a:r>
              <a:rPr lang="es-MX" sz="2600" dirty="0" err="1"/>
              <a:t>condicion</a:t>
            </a:r>
            <a:r>
              <a:rPr lang="es-MX" sz="2600" dirty="0"/>
              <a:t>&gt;	</a:t>
            </a:r>
          </a:p>
        </p:txBody>
      </p:sp>
    </p:spTree>
    <p:extLst>
      <p:ext uri="{BB962C8B-B14F-4D97-AF65-F5344CB8AC3E}">
        <p14:creationId xmlns:p14="http://schemas.microsoft.com/office/powerpoint/2010/main" val="1866967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1166843"/>
            <a:ext cx="7776864" cy="892552"/>
          </a:xfrm>
          <a:prstGeom prst="rect">
            <a:avLst/>
          </a:prstGeom>
        </p:spPr>
        <p:txBody>
          <a:bodyPr wrap="square">
            <a:spAutoFit/>
          </a:bodyPr>
          <a:lstStyle/>
          <a:p>
            <a:pPr marL="457200" indent="-457200"/>
            <a:r>
              <a:rPr lang="es-ES" sz="2600" b="1" dirty="0"/>
              <a:t>3) Repetitiva Hacer – Mientras  ó Repetir</a:t>
            </a:r>
          </a:p>
          <a:p>
            <a:pPr marL="457200" indent="-457200"/>
            <a:r>
              <a:rPr lang="es-ES" sz="2600" dirty="0"/>
              <a:t>Ejemplo</a:t>
            </a:r>
          </a:p>
        </p:txBody>
      </p:sp>
      <p:sp>
        <p:nvSpPr>
          <p:cNvPr id="3" name="2 Rectángulo"/>
          <p:cNvSpPr/>
          <p:nvPr/>
        </p:nvSpPr>
        <p:spPr>
          <a:xfrm>
            <a:off x="683568" y="2163053"/>
            <a:ext cx="8064896" cy="492443"/>
          </a:xfrm>
          <a:prstGeom prst="rect">
            <a:avLst/>
          </a:prstGeom>
        </p:spPr>
        <p:txBody>
          <a:bodyPr wrap="square">
            <a:spAutoFit/>
          </a:bodyPr>
          <a:lstStyle/>
          <a:p>
            <a:pPr marL="457200" indent="-457200"/>
            <a:r>
              <a:rPr lang="es-ES" sz="2600" b="1" dirty="0"/>
              <a:t>	Pseudocódigo				</a:t>
            </a:r>
          </a:p>
        </p:txBody>
      </p:sp>
      <p:sp>
        <p:nvSpPr>
          <p:cNvPr id="4" name="3 Rectángulo"/>
          <p:cNvSpPr/>
          <p:nvPr/>
        </p:nvSpPr>
        <p:spPr>
          <a:xfrm>
            <a:off x="827584" y="2492896"/>
            <a:ext cx="7776864" cy="3139321"/>
          </a:xfrm>
          <a:prstGeom prst="rect">
            <a:avLst/>
          </a:prstGeom>
        </p:spPr>
        <p:txBody>
          <a:bodyPr wrap="square">
            <a:spAutoFit/>
          </a:bodyPr>
          <a:lstStyle/>
          <a:p>
            <a:r>
              <a:rPr lang="es-MX" sz="2200" dirty="0"/>
              <a:t>Proceso </a:t>
            </a:r>
            <a:r>
              <a:rPr lang="es-MX" sz="2200" dirty="0" err="1"/>
              <a:t>sin_titulo</a:t>
            </a:r>
            <a:endParaRPr lang="es-MX" sz="2200" dirty="0"/>
          </a:p>
          <a:p>
            <a:r>
              <a:rPr lang="es-MX" sz="2200" dirty="0"/>
              <a:t>	Repetir</a:t>
            </a:r>
          </a:p>
          <a:p>
            <a:r>
              <a:rPr lang="es-MX" sz="2200" dirty="0"/>
              <a:t>		Leer SALARIO;</a:t>
            </a:r>
          </a:p>
          <a:p>
            <a:r>
              <a:rPr lang="es-MX" sz="2200" dirty="0"/>
              <a:t>		SAL_FIN&lt;-SALARIO*1.15;</a:t>
            </a:r>
          </a:p>
          <a:p>
            <a:r>
              <a:rPr lang="es-MX" sz="2200" dirty="0"/>
              <a:t>		Escribir "El salario con aumento </a:t>
            </a:r>
            <a:r>
              <a:rPr lang="es-MX" sz="2200" dirty="0" err="1"/>
              <a:t>es",SAL_FIN</a:t>
            </a:r>
            <a:r>
              <a:rPr lang="es-MX" sz="2200" dirty="0"/>
              <a:t>;</a:t>
            </a:r>
          </a:p>
          <a:p>
            <a:r>
              <a:rPr lang="es-MX" sz="2200" dirty="0"/>
              <a:t>		Escribir "hay otro empleado";</a:t>
            </a:r>
          </a:p>
          <a:p>
            <a:r>
              <a:rPr lang="es-MX" sz="2200" dirty="0"/>
              <a:t>		Leer EMPLEA;</a:t>
            </a:r>
          </a:p>
          <a:p>
            <a:r>
              <a:rPr lang="es-MX" sz="2200" dirty="0"/>
              <a:t>	Hasta Que EMPLEA="n"</a:t>
            </a:r>
          </a:p>
          <a:p>
            <a:r>
              <a:rPr lang="es-MX" sz="2200" dirty="0" err="1"/>
              <a:t>FinProceso</a:t>
            </a:r>
            <a:endParaRPr lang="es-MX" sz="2200" dirty="0"/>
          </a:p>
        </p:txBody>
      </p:sp>
    </p:spTree>
    <p:extLst>
      <p:ext uri="{BB962C8B-B14F-4D97-AF65-F5344CB8AC3E}">
        <p14:creationId xmlns:p14="http://schemas.microsoft.com/office/powerpoint/2010/main" val="2796556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83568" y="332656"/>
            <a:ext cx="7776864" cy="892552"/>
          </a:xfrm>
          <a:prstGeom prst="rect">
            <a:avLst/>
          </a:prstGeom>
        </p:spPr>
        <p:txBody>
          <a:bodyPr wrap="square">
            <a:spAutoFit/>
          </a:bodyPr>
          <a:lstStyle/>
          <a:p>
            <a:pPr marL="457200" indent="-457200"/>
            <a:r>
              <a:rPr lang="es-ES" sz="2600" b="1" dirty="0"/>
              <a:t>3) Repetitiva Hacer – Mientras  ó Repetir</a:t>
            </a:r>
          </a:p>
          <a:p>
            <a:pPr marL="457200" indent="-457200"/>
            <a:r>
              <a:rPr lang="es-ES" sz="2600" dirty="0"/>
              <a:t>Ejemplo</a:t>
            </a:r>
          </a:p>
        </p:txBody>
      </p:sp>
      <p:sp>
        <p:nvSpPr>
          <p:cNvPr id="3" name="2 Rectángulo"/>
          <p:cNvSpPr/>
          <p:nvPr/>
        </p:nvSpPr>
        <p:spPr>
          <a:xfrm>
            <a:off x="665643" y="2207682"/>
            <a:ext cx="2736304" cy="1292662"/>
          </a:xfrm>
          <a:prstGeom prst="rect">
            <a:avLst/>
          </a:prstGeom>
        </p:spPr>
        <p:txBody>
          <a:bodyPr wrap="square">
            <a:spAutoFit/>
          </a:bodyPr>
          <a:lstStyle/>
          <a:p>
            <a:pPr marL="457200" indent="-457200" algn="just"/>
            <a:r>
              <a:rPr lang="es-ES" sz="2600" b="1" dirty="0"/>
              <a:t>Convertido a </a:t>
            </a:r>
          </a:p>
          <a:p>
            <a:pPr marL="457200" indent="-457200" algn="just"/>
            <a:r>
              <a:rPr lang="es-ES" sz="2600" b="1" dirty="0"/>
              <a:t>diagrama de flujo </a:t>
            </a:r>
          </a:p>
          <a:p>
            <a:pPr marL="457200" indent="-457200" algn="just"/>
            <a:r>
              <a:rPr lang="es-ES" sz="2600" b="1" dirty="0"/>
              <a:t>desde </a:t>
            </a:r>
            <a:r>
              <a:rPr lang="es-ES" sz="2600" b="1" dirty="0" err="1"/>
              <a:t>PseInt</a:t>
            </a:r>
            <a:r>
              <a:rPr lang="es-ES" sz="2600" b="1" dirty="0"/>
              <a:t>	</a:t>
            </a:r>
          </a:p>
        </p:txBody>
      </p:sp>
      <p:grpSp>
        <p:nvGrpSpPr>
          <p:cNvPr id="8" name="7 Grupo"/>
          <p:cNvGrpSpPr/>
          <p:nvPr/>
        </p:nvGrpSpPr>
        <p:grpSpPr>
          <a:xfrm>
            <a:off x="3419872" y="965047"/>
            <a:ext cx="5472608" cy="5070594"/>
            <a:chOff x="3419872" y="1613119"/>
            <a:chExt cx="5472608" cy="5070594"/>
          </a:xfrm>
        </p:grpSpPr>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477" t="29360" r="51647" b="23319"/>
            <a:stretch/>
          </p:blipFill>
          <p:spPr bwMode="auto">
            <a:xfrm>
              <a:off x="3419872" y="1613119"/>
              <a:ext cx="5472608" cy="5070594"/>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5 Conector recto"/>
            <p:cNvCxnSpPr/>
            <p:nvPr/>
          </p:nvCxnSpPr>
          <p:spPr>
            <a:xfrm flipV="1">
              <a:off x="5429256" y="5143512"/>
              <a:ext cx="1000132" cy="428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1679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214414" y="1428736"/>
            <a:ext cx="2601994" cy="584775"/>
          </a:xfrm>
          <a:prstGeom prst="rect">
            <a:avLst/>
          </a:prstGeom>
          <a:noFill/>
        </p:spPr>
        <p:txBody>
          <a:bodyPr wrap="none" rtlCol="0">
            <a:spAutoFit/>
          </a:bodyPr>
          <a:lstStyle/>
          <a:p>
            <a:r>
              <a:rPr lang="es-ES" sz="3200" b="1" dirty="0"/>
              <a:t>BIBLIOGRAFÍA</a:t>
            </a:r>
          </a:p>
        </p:txBody>
      </p:sp>
      <p:sp>
        <p:nvSpPr>
          <p:cNvPr id="3" name="2 CuadroTexto"/>
          <p:cNvSpPr txBox="1"/>
          <p:nvPr/>
        </p:nvSpPr>
        <p:spPr>
          <a:xfrm>
            <a:off x="1071538" y="2272437"/>
            <a:ext cx="7215238" cy="2585323"/>
          </a:xfrm>
          <a:prstGeom prst="rect">
            <a:avLst/>
          </a:prstGeom>
          <a:noFill/>
        </p:spPr>
        <p:txBody>
          <a:bodyPr wrap="square" rtlCol="0">
            <a:spAutoFit/>
          </a:bodyPr>
          <a:lstStyle/>
          <a:p>
            <a:pPr marL="342900" indent="-342900" algn="just">
              <a:buAutoNum type="arabicPeriod"/>
            </a:pPr>
            <a:r>
              <a:rPr lang="es-ES" dirty="0"/>
              <a:t>Samperio </a:t>
            </a:r>
            <a:r>
              <a:rPr lang="es-ES" dirty="0" err="1"/>
              <a:t>Monroy</a:t>
            </a:r>
            <a:r>
              <a:rPr lang="es-ES" dirty="0"/>
              <a:t> </a:t>
            </a:r>
            <a:r>
              <a:rPr lang="es-ES" dirty="0" err="1"/>
              <a:t>Theira</a:t>
            </a:r>
            <a:r>
              <a:rPr lang="es-ES" dirty="0"/>
              <a:t> </a:t>
            </a:r>
            <a:r>
              <a:rPr lang="es-ES" dirty="0" err="1"/>
              <a:t>Irasema</a:t>
            </a:r>
            <a:r>
              <a:rPr lang="es-ES" dirty="0"/>
              <a:t>. Antología “Programación </a:t>
            </a:r>
            <a:r>
              <a:rPr lang="es-ES" dirty="0" err="1"/>
              <a:t>Estructurda</a:t>
            </a:r>
            <a:r>
              <a:rPr lang="es-ES" dirty="0"/>
              <a:t>”. Diciembre 2006 </a:t>
            </a:r>
          </a:p>
          <a:p>
            <a:pPr lvl="0" algn="just"/>
            <a:r>
              <a:rPr lang="es-ES" dirty="0"/>
              <a:t>2. </a:t>
            </a:r>
            <a:r>
              <a:rPr lang="es-ES" dirty="0" err="1"/>
              <a:t>Cairó</a:t>
            </a:r>
            <a:r>
              <a:rPr lang="es-ES" dirty="0"/>
              <a:t> </a:t>
            </a:r>
            <a:r>
              <a:rPr lang="es-ES" dirty="0" err="1"/>
              <a:t>Olvaldo</a:t>
            </a:r>
            <a:r>
              <a:rPr lang="es-ES" dirty="0"/>
              <a:t>, Metodología de la programación (algoritmos, diagramas de flujo y programas), Editorial </a:t>
            </a:r>
            <a:r>
              <a:rPr lang="es-ES" dirty="0" err="1"/>
              <a:t>Alfaomega</a:t>
            </a:r>
            <a:r>
              <a:rPr lang="es-ES" dirty="0"/>
              <a:t>, Segunda edición.</a:t>
            </a:r>
            <a:endParaRPr lang="es-MX" dirty="0"/>
          </a:p>
          <a:p>
            <a:pPr lvl="0" algn="just"/>
            <a:r>
              <a:rPr lang="es-MX" dirty="0"/>
              <a:t>3. </a:t>
            </a:r>
            <a:r>
              <a:rPr lang="es-ES" dirty="0" err="1"/>
              <a:t>Joyanes</a:t>
            </a:r>
            <a:r>
              <a:rPr lang="es-ES" dirty="0"/>
              <a:t> Aguilar Luís, Fundamentos de programación (Algoritmos, estructuras de datos y objetos), Editorial </a:t>
            </a:r>
            <a:r>
              <a:rPr lang="es-ES" dirty="0" err="1"/>
              <a:t>McGraw</a:t>
            </a:r>
            <a:r>
              <a:rPr lang="es-ES" dirty="0"/>
              <a:t> Hill, Tercera Edición.</a:t>
            </a:r>
            <a:endParaRPr lang="es-MX" dirty="0"/>
          </a:p>
          <a:p>
            <a:pPr lvl="0" algn="just"/>
            <a:r>
              <a:rPr lang="es-ES" dirty="0"/>
              <a:t>4. </a:t>
            </a:r>
            <a:r>
              <a:rPr lang="es-ES" dirty="0" err="1"/>
              <a:t>Ferreyra</a:t>
            </a:r>
            <a:r>
              <a:rPr lang="es-ES" dirty="0"/>
              <a:t> Cortés Gonzalo, Informática para cursos de bachillerato, Editorial </a:t>
            </a:r>
            <a:r>
              <a:rPr lang="es-ES" dirty="0" err="1"/>
              <a:t>Alfaomega</a:t>
            </a:r>
            <a:r>
              <a:rPr lang="es-ES" dirty="0"/>
              <a:t>, Segunda Edición</a:t>
            </a:r>
            <a:endParaRPr lang="es-MX" dirty="0"/>
          </a:p>
          <a:p>
            <a:pPr algn="just"/>
            <a:r>
              <a:rPr lang="es-ES" dirty="0"/>
              <a:t>5. Imágenes obtenidas del Software DFD y </a:t>
            </a:r>
            <a:r>
              <a:rPr lang="es-ES" dirty="0" err="1"/>
              <a:t>Pseint</a:t>
            </a:r>
            <a:endParaRPr lang="es-ES" dirty="0"/>
          </a:p>
        </p:txBody>
      </p:sp>
    </p:spTree>
    <p:extLst>
      <p:ext uri="{BB962C8B-B14F-4D97-AF65-F5344CB8AC3E}">
        <p14:creationId xmlns:p14="http://schemas.microsoft.com/office/powerpoint/2010/main" val="1866967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uter_basics_JCTL - Carlo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computer_basics_JCTL - Carlos</Template>
  <TotalTime>1493</TotalTime>
  <Words>1446</Words>
  <Application>Microsoft Office PowerPoint</Application>
  <PresentationFormat>Presentación en pantalla (4:3)</PresentationFormat>
  <Paragraphs>227</Paragraphs>
  <Slides>26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Arial</vt:lpstr>
      <vt:lpstr>Calibri</vt:lpstr>
      <vt:lpstr>Verdana</vt:lpstr>
      <vt:lpstr>Wingdings</vt:lpstr>
      <vt:lpstr>computer_basics_JCTL - Carlos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DIRECCION1</dc:creator>
  <cp:lastModifiedBy>CARLOS DANIEL GOMEZ DAZA</cp:lastModifiedBy>
  <cp:revision>194</cp:revision>
  <dcterms:created xsi:type="dcterms:W3CDTF">2011-12-05T23:45:55Z</dcterms:created>
  <dcterms:modified xsi:type="dcterms:W3CDTF">2024-04-03T14:20:43Z</dcterms:modified>
</cp:coreProperties>
</file>