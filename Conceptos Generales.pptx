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6" r:id="rId1"/>
  </p:sldMasterIdLst>
  <p:notesMasterIdLst>
    <p:notesMasterId r:id="rId8"/>
  </p:notesMasterIdLst>
  <p:handoutMasterIdLst>
    <p:handoutMasterId r:id="rId9"/>
  </p:handoutMasterIdLst>
  <p:sldIdLst>
    <p:sldId id="544" r:id="rId2"/>
    <p:sldId id="532" r:id="rId3"/>
    <p:sldId id="545" r:id="rId4"/>
    <p:sldId id="546" r:id="rId5"/>
    <p:sldId id="547" r:id="rId6"/>
    <p:sldId id="53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95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87" userDrawn="1">
          <p15:clr>
            <a:srgbClr val="A4A3A4"/>
          </p15:clr>
        </p15:guide>
        <p15:guide id="4" pos="438" userDrawn="1">
          <p15:clr>
            <a:srgbClr val="A4A3A4"/>
          </p15:clr>
        </p15:guide>
        <p15:guide id="5" orient="horz" pos="2387" userDrawn="1">
          <p15:clr>
            <a:srgbClr val="A4A3A4"/>
          </p15:clr>
        </p15:guide>
        <p15:guide id="6" orient="horz" pos="2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4D4C"/>
    <a:srgbClr val="343433"/>
    <a:srgbClr val="FF6C00"/>
    <a:srgbClr val="38AA00"/>
    <a:srgbClr val="766363"/>
    <a:srgbClr val="FFF5EA"/>
    <a:srgbClr val="0032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964" autoAdjust="0"/>
    <p:restoredTop sz="97242"/>
  </p:normalViewPr>
  <p:slideViewPr>
    <p:cSldViewPr snapToGrid="0">
      <p:cViewPr varScale="1">
        <p:scale>
          <a:sx n="85" d="100"/>
          <a:sy n="85" d="100"/>
        </p:scale>
        <p:origin x="730" y="62"/>
      </p:cViewPr>
      <p:guideLst>
        <p:guide orient="horz" pos="595"/>
        <p:guide pos="3840"/>
        <p:guide orient="horz" pos="187"/>
        <p:guide pos="438"/>
        <p:guide orient="horz" pos="2387"/>
        <p:guide orient="horz" pos="2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5336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999AFE6-721E-1D92-FFC0-72E02DBB97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A598C0A-ECF9-B897-80D5-1AE7ABA305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369B9F-131C-2846-AB8F-CEE154B4CAEB}" type="datetimeFigureOut">
              <a:rPr lang="es-CO" smtClean="0"/>
              <a:t>11/06/2026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88F308B-0102-A0B4-9A23-E807C735E8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E7CACDD-5D14-572A-2591-609B03F168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93070F-3F68-E043-9CC3-B53B4F2245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00459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0CB96-A603-FF42-AE46-F5F75F80A67B}" type="datetimeFigureOut">
              <a:rPr lang="es-CO" smtClean="0"/>
              <a:t>11/06/2026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6C58E-460D-4A4B-B0C2-1191B9D14F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1302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11/06/2026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3975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11/06/2026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66617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11/06/2026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20098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11/06/2026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51341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11/06/2026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21182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11/06/2026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24797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11/06/2026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809736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11/06/2026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0231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11/06/2026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57728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11/06/2026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16382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11/06/2026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097517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E09D5-8681-04F4-0AD1-7206C3FF5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EB62C8D-42BE-8DF8-DDA7-6DDCB2389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11/06/2026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9F9D5C3-AD35-C818-D069-AB2D8EBBE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106A169-E84D-2DE1-E7CC-7058F9C00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5659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86248-06F7-A441-A47A-264EBD310E11}" type="datetimeFigureOut">
              <a:rPr lang="es-CO" smtClean="0"/>
              <a:t>11/06/2026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1471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7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2FCF1B-3E11-3F22-6015-1D39D506E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E10E589-B888-5E3E-CA59-27D086F81F4B}"/>
              </a:ext>
            </a:extLst>
          </p:cNvPr>
          <p:cNvSpPr txBox="1"/>
          <p:nvPr/>
        </p:nvSpPr>
        <p:spPr>
          <a:xfrm>
            <a:off x="963672" y="2551837"/>
            <a:ext cx="64536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5400" b="1" dirty="0">
                <a:solidFill>
                  <a:prstClr val="black">
                    <a:lumMod val="75000"/>
                    <a:lumOff val="25000"/>
                  </a:prstClr>
                </a:solidFill>
                <a:latin typeface="Work Sans Bold Roman" pitchFamily="2" charset="77"/>
              </a:rPr>
              <a:t>Conceptos Generales</a:t>
            </a:r>
            <a:endParaRPr kumimoji="0" lang="es-ES" sz="5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Work Sans Bold Roman" pitchFamily="2" charset="77"/>
              <a:ea typeface="+mn-ea"/>
              <a:cs typeface="+mn-cs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4E74E67-5DA0-D842-19A5-A58C5A6DD5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976" t="22927" r="24976" b="22927"/>
          <a:stretch/>
        </p:blipFill>
        <p:spPr>
          <a:xfrm>
            <a:off x="10207572" y="1055213"/>
            <a:ext cx="923111" cy="90876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781EE8E9-258F-5D3D-5407-C96214A312A8}"/>
              </a:ext>
            </a:extLst>
          </p:cNvPr>
          <p:cNvSpPr txBox="1"/>
          <p:nvPr/>
        </p:nvSpPr>
        <p:spPr>
          <a:xfrm>
            <a:off x="391886" y="296862"/>
            <a:ext cx="28283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kumimoji="0" lang="es-CO" sz="1000" b="1" u="none" strike="noStrike" kern="1200" cap="none" spc="0" normalizeH="0" baseline="0" noProof="0" dirty="0">
                <a:ln>
                  <a:noFill/>
                </a:ln>
                <a:solidFill>
                  <a:srgbClr val="4D4D4C"/>
                </a:solidFill>
                <a:effectLst/>
                <a:uLnTx/>
                <a:uFillTx/>
                <a:latin typeface="WORK SANS SEMIBOLD ROMAN" pitchFamily="2" charset="77"/>
                <a:cs typeface="Arial" panose="020B0604020202020204" pitchFamily="34" charset="0"/>
              </a:rPr>
              <a:t>Clasificación de la información: </a:t>
            </a:r>
            <a:r>
              <a:rPr lang="es-CO" sz="1000" b="1" dirty="0">
                <a:solidFill>
                  <a:srgbClr val="4D4D4C"/>
                </a:solidFill>
                <a:latin typeface="WORK SANS SEMIBOLD ROMAN" pitchFamily="2" charset="77"/>
                <a:cs typeface="Arial" panose="020B0604020202020204" pitchFamily="34" charset="0"/>
              </a:rPr>
              <a:t>Pública</a:t>
            </a:r>
            <a:endParaRPr kumimoji="0" lang="es-CO" sz="1000" b="1" u="none" strike="noStrike" kern="1200" cap="none" spc="0" normalizeH="0" baseline="0" noProof="0" dirty="0">
              <a:ln>
                <a:noFill/>
              </a:ln>
              <a:solidFill>
                <a:srgbClr val="4D4D4C"/>
              </a:solidFill>
              <a:effectLst/>
              <a:uLnTx/>
              <a:uFillTx/>
              <a:latin typeface="WORK SANS SEMIBOLD ROMAN" pitchFamily="2" charset="7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9423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BB6F714C-A6B0-54AE-507A-D0700714D94B}"/>
              </a:ext>
            </a:extLst>
          </p:cNvPr>
          <p:cNvSpPr txBox="1">
            <a:spLocks/>
          </p:cNvSpPr>
          <p:nvPr/>
        </p:nvSpPr>
        <p:spPr>
          <a:xfrm>
            <a:off x="695325" y="416690"/>
            <a:ext cx="10142303" cy="527874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 BOLD ROMAN" pitchFamily="2" charset="77"/>
              </a:rPr>
              <a:t>Tres Pilares fundamentales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8BEF638-6B4D-65E6-0356-02F1F99735EA}"/>
              </a:ext>
            </a:extLst>
          </p:cNvPr>
          <p:cNvSpPr txBox="1"/>
          <p:nvPr/>
        </p:nvSpPr>
        <p:spPr>
          <a:xfrm>
            <a:off x="376518" y="1969132"/>
            <a:ext cx="542364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b="1" u="none" strike="noStrike" dirty="0">
                <a:effectLst/>
                <a:latin typeface="Google Sans"/>
              </a:rPr>
              <a:t>Algoritmos</a:t>
            </a:r>
            <a:r>
              <a:rPr lang="es-ES" dirty="0"/>
              <a:t>, </a:t>
            </a:r>
            <a:r>
              <a:rPr lang="es-ES" b="1" u="none" strike="noStrike" dirty="0">
                <a:effectLst/>
                <a:latin typeface="Google Sans"/>
              </a:rPr>
              <a:t>lógica matemática</a:t>
            </a:r>
            <a:r>
              <a:rPr lang="es-ES" dirty="0"/>
              <a:t> y </a:t>
            </a:r>
            <a:r>
              <a:rPr lang="es-ES" b="1" u="none" strike="noStrike" dirty="0">
                <a:effectLst/>
                <a:latin typeface="Google Sans"/>
              </a:rPr>
              <a:t>programación</a:t>
            </a:r>
            <a:r>
              <a:rPr lang="es-ES" dirty="0"/>
              <a:t> son los tres pilares fundamentales para resolver problemas computacionales. Los algoritmos son la estrategia paso a paso, la lógica matemática asegura que esa estrategia sea correcta y coherente, y la programación es la herramienta que traduce esto a un lenguaje ejecutable por computadora</a:t>
            </a:r>
            <a:endParaRPr lang="en-US" dirty="0"/>
          </a:p>
        </p:txBody>
      </p:sp>
      <p:pic>
        <p:nvPicPr>
          <p:cNvPr id="1026" name="Picture 2" descr="La lógica de programación y sus fundamentos">
            <a:extLst>
              <a:ext uri="{FF2B5EF4-FFF2-40B4-BE49-F238E27FC236}">
                <a16:creationId xmlns:a16="http://schemas.microsoft.com/office/drawing/2014/main" id="{385F74A2-BA03-CEB3-0039-F60CF26FB4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5318" y="1969132"/>
            <a:ext cx="5800164" cy="3263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9292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64D8FE-2FA9-BBDD-B017-B91710970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D625CD67-E10B-7AFE-E129-13267AD3FCBA}"/>
              </a:ext>
            </a:extLst>
          </p:cNvPr>
          <p:cNvSpPr txBox="1">
            <a:spLocks/>
          </p:cNvSpPr>
          <p:nvPr/>
        </p:nvSpPr>
        <p:spPr>
          <a:xfrm>
            <a:off x="695325" y="416690"/>
            <a:ext cx="10142303" cy="527874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 BOLD ROMAN" pitchFamily="2" charset="77"/>
              </a:rPr>
              <a:t>Tres Pilares fundamentales: Algoritmos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118C5A1-4914-E107-3699-C9B3CED6CDC8}"/>
              </a:ext>
            </a:extLst>
          </p:cNvPr>
          <p:cNvSpPr txBox="1"/>
          <p:nvPr/>
        </p:nvSpPr>
        <p:spPr>
          <a:xfrm>
            <a:off x="627530" y="1465182"/>
            <a:ext cx="6096000" cy="4608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800"/>
              </a:spcBef>
              <a:spcAft>
                <a:spcPts val="900"/>
              </a:spcAft>
              <a:buNone/>
            </a:pPr>
            <a:r>
              <a:rPr lang="es-ES" b="1" u="none" strike="noStrike" dirty="0">
                <a:effectLst/>
                <a:latin typeface="Google Sans"/>
              </a:rPr>
              <a:t>Algoritmos</a:t>
            </a:r>
          </a:p>
          <a:p>
            <a:pPr algn="just">
              <a:spcBef>
                <a:spcPts val="900"/>
              </a:spcBef>
              <a:spcAft>
                <a:spcPts val="1200"/>
              </a:spcAft>
              <a:buNone/>
            </a:pPr>
            <a:r>
              <a:rPr lang="es-ES" b="0" u="none" strike="noStrike" dirty="0">
                <a:effectLst/>
                <a:latin typeface="Google Sans"/>
              </a:rPr>
              <a:t>Un algoritmo es una secuencia finita, precisa y ordenada de instrucciones diseñadas para resolver una tarea o problema específico. </a:t>
            </a:r>
          </a:p>
          <a:p>
            <a:pPr algn="just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s-ES" b="1" u="none" strike="noStrike" dirty="0">
                <a:effectLst/>
                <a:latin typeface="Google Sans"/>
              </a:rPr>
              <a:t>Entrada (Input):</a:t>
            </a:r>
            <a:r>
              <a:rPr lang="es-ES" b="0" u="none" strike="noStrike" dirty="0">
                <a:effectLst/>
                <a:latin typeface="Google Sans"/>
              </a:rPr>
              <a:t> Los datos iniciales que el algoritmo necesita para operar.</a:t>
            </a:r>
          </a:p>
          <a:p>
            <a:pPr algn="just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s-ES" b="1" u="none" strike="noStrike" dirty="0">
                <a:effectLst/>
                <a:latin typeface="Google Sans"/>
              </a:rPr>
              <a:t>Proceso:</a:t>
            </a:r>
            <a:r>
              <a:rPr lang="es-ES" b="0" u="none" strike="noStrike" dirty="0">
                <a:effectLst/>
                <a:latin typeface="Google Sans"/>
              </a:rPr>
              <a:t> Las operaciones matemáticas y lógicas que se realizan sobre los datos.</a:t>
            </a:r>
          </a:p>
          <a:p>
            <a:pPr algn="just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s-ES" b="1" u="none" strike="noStrike" dirty="0">
                <a:effectLst/>
                <a:latin typeface="Google Sans"/>
              </a:rPr>
              <a:t>Salida (Output):</a:t>
            </a:r>
            <a:r>
              <a:rPr lang="es-ES" b="0" u="none" strike="noStrike" dirty="0">
                <a:effectLst/>
                <a:latin typeface="Google Sans"/>
              </a:rPr>
              <a:t> El resultado final obtenido.</a:t>
            </a:r>
          </a:p>
          <a:p>
            <a:pPr algn="just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s-ES" b="0" u="none" strike="noStrike" dirty="0">
                <a:effectLst/>
                <a:latin typeface="Google Sans"/>
              </a:rPr>
              <a:t>En su fase inicial, se estructuran mediante diagramas de flujo (gráficos) o </a:t>
            </a:r>
            <a:r>
              <a:rPr lang="es-ES" b="1" u="none" strike="noStrike" dirty="0">
                <a:effectLst/>
                <a:latin typeface="Google Sans"/>
              </a:rPr>
              <a:t>pseudocódigo</a:t>
            </a:r>
            <a:r>
              <a:rPr lang="es-ES" b="0" u="none" strike="noStrike" dirty="0">
                <a:effectLst/>
                <a:latin typeface="Google Sans"/>
              </a:rPr>
              <a:t> (mezcla de lenguaje humano y reglas de programación). 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4CBF1C8-F246-C496-C3EA-0CACB11AD3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6072" y="1335741"/>
            <a:ext cx="3821954" cy="5213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772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4ADD92-3665-A0C2-8E58-711BD8CAF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D1727B9F-63CD-76D5-4298-D0C01B2E3ABD}"/>
              </a:ext>
            </a:extLst>
          </p:cNvPr>
          <p:cNvSpPr txBox="1">
            <a:spLocks/>
          </p:cNvSpPr>
          <p:nvPr/>
        </p:nvSpPr>
        <p:spPr>
          <a:xfrm>
            <a:off x="695325" y="416690"/>
            <a:ext cx="10142303" cy="527874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 BOLD ROMAN" pitchFamily="2" charset="77"/>
              </a:rPr>
              <a:t>Tres Pilares fundamentales: </a:t>
            </a:r>
            <a:r>
              <a:rPr lang="es-CO" sz="3600" b="1" dirty="0">
                <a:solidFill>
                  <a:prstClr val="white"/>
                </a:solidFill>
                <a:latin typeface="WORK SANS BOLD ROMAN" pitchFamily="2" charset="77"/>
              </a:rPr>
              <a:t>Lógica matematica</a:t>
            </a:r>
            <a:endParaRPr kumimoji="0" lang="es-CO" sz="36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WORK SANS BOLD ROMAN" pitchFamily="2" charset="77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C3FA4C9-41DF-7420-F21B-67559C2C3A0E}"/>
              </a:ext>
            </a:extLst>
          </p:cNvPr>
          <p:cNvSpPr txBox="1"/>
          <p:nvPr/>
        </p:nvSpPr>
        <p:spPr>
          <a:xfrm>
            <a:off x="551890" y="1622265"/>
            <a:ext cx="6096000" cy="3362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1200"/>
              </a:spcAft>
              <a:buNone/>
            </a:pPr>
            <a:r>
              <a:rPr lang="es-ES" b="0" u="none" strike="noStrike" dirty="0">
                <a:effectLst/>
                <a:latin typeface="Google Sans"/>
              </a:rPr>
              <a:t>Es la base sobre la cual se evalúa la veracidad de la información en el software. Nos ayuda a identificar patrones y crear flujos coherentes. Se compone de:</a:t>
            </a:r>
          </a:p>
          <a:p>
            <a:pPr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s-ES" b="1" u="none" strike="noStrike" dirty="0">
                <a:effectLst/>
                <a:latin typeface="Google Sans"/>
              </a:rPr>
              <a:t>Operadores lógicos y relacionales:</a:t>
            </a:r>
            <a:r>
              <a:rPr lang="es-ES" b="0" u="none" strike="noStrike" dirty="0">
                <a:effectLst/>
                <a:latin typeface="Google Sans"/>
              </a:rPr>
              <a:t> Herramientas fundamentales para comparar datos y tomar decisiones (ej. AND (Y), OR (O), NOT (NO), mayor que &gt;, menor que &lt;, igual a ==). </a:t>
            </a:r>
          </a:p>
          <a:p>
            <a:pPr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s-ES" b="1" u="none" strike="noStrike" dirty="0">
                <a:effectLst/>
                <a:latin typeface="Google Sans"/>
              </a:rPr>
              <a:t>Álgebra Booleana:</a:t>
            </a:r>
            <a:r>
              <a:rPr lang="es-ES" b="0" u="none" strike="noStrike" dirty="0">
                <a:effectLst/>
                <a:latin typeface="Google Sans"/>
              </a:rPr>
              <a:t> Sistema matemático donde todas las operaciones resultan en solo dos valores: </a:t>
            </a:r>
            <a:r>
              <a:rPr lang="es-ES" b="1" u="none" strike="noStrike" dirty="0">
                <a:effectLst/>
                <a:latin typeface="Google Sans"/>
              </a:rPr>
              <a:t>Verdadero (True / 1)</a:t>
            </a:r>
            <a:r>
              <a:rPr lang="es-ES" b="0" u="none" strike="noStrike" dirty="0">
                <a:effectLst/>
                <a:latin typeface="Google Sans"/>
              </a:rPr>
              <a:t> o </a:t>
            </a:r>
            <a:r>
              <a:rPr lang="es-ES" b="1" u="none" strike="noStrike" dirty="0">
                <a:effectLst/>
                <a:latin typeface="Google Sans"/>
              </a:rPr>
              <a:t>Falso (False / 0)</a:t>
            </a:r>
            <a:r>
              <a:rPr lang="es-ES" b="0" u="none" strike="noStrike" dirty="0">
                <a:effectLst/>
                <a:latin typeface="Google Sans"/>
              </a:rPr>
              <a:t>. 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4D8E7DE-0B54-3ABF-3F4A-0D70CED606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2866" y="1788285"/>
            <a:ext cx="5505697" cy="328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16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49D0DD-1305-1CA7-9567-C70207619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ECDE71CB-6705-BB96-181C-17EEF134EADD}"/>
              </a:ext>
            </a:extLst>
          </p:cNvPr>
          <p:cNvSpPr txBox="1">
            <a:spLocks/>
          </p:cNvSpPr>
          <p:nvPr/>
        </p:nvSpPr>
        <p:spPr>
          <a:xfrm>
            <a:off x="695325" y="416690"/>
            <a:ext cx="10142303" cy="527874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 BOLD ROMAN" pitchFamily="2" charset="77"/>
              </a:rPr>
              <a:t>Tres Pilares fundamentales: </a:t>
            </a:r>
            <a:r>
              <a:rPr lang="es-CO" sz="3600" b="1" dirty="0" err="1">
                <a:solidFill>
                  <a:prstClr val="white"/>
                </a:solidFill>
                <a:latin typeface="WORK SANS BOLD ROMAN" pitchFamily="2" charset="77"/>
              </a:rPr>
              <a:t>Programacion</a:t>
            </a:r>
            <a:endParaRPr kumimoji="0" lang="es-CO" sz="36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WORK SANS BOLD ROMAN" pitchFamily="2" charset="77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E44C519-7CF4-3ADD-9F6F-C46705460F9F}"/>
              </a:ext>
            </a:extLst>
          </p:cNvPr>
          <p:cNvSpPr txBox="1"/>
          <p:nvPr/>
        </p:nvSpPr>
        <p:spPr>
          <a:xfrm>
            <a:off x="551890" y="1622265"/>
            <a:ext cx="5929592" cy="4147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900"/>
              </a:spcBef>
              <a:spcAft>
                <a:spcPts val="1200"/>
              </a:spcAft>
              <a:buNone/>
            </a:pPr>
            <a:r>
              <a:rPr lang="es-ES" b="0" u="none" strike="noStrike" dirty="0">
                <a:effectLst/>
                <a:latin typeface="Google Sans"/>
              </a:rPr>
              <a:t>Es el proceso de diseñar, codificar, depurar y mantener el código fuente de los programas computacionales. Convierte los algoritmos (la idea paso a paso) en un lenguaje que la máquina puede ejecutar. </a:t>
            </a:r>
          </a:p>
          <a:p>
            <a:pPr algn="just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s-ES" b="1" u="none" strike="noStrike" dirty="0">
                <a:effectLst/>
                <a:latin typeface="Google Sans"/>
              </a:rPr>
              <a:t>Variables:</a:t>
            </a:r>
            <a:r>
              <a:rPr lang="es-ES" b="0" u="none" strike="noStrike" dirty="0">
                <a:effectLst/>
                <a:latin typeface="Google Sans"/>
              </a:rPr>
              <a:t> Contenedores utilizados para almacenar datos en la memoria.</a:t>
            </a:r>
          </a:p>
          <a:p>
            <a:pPr algn="just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s-ES" b="1" u="none" strike="noStrike" dirty="0">
                <a:effectLst/>
                <a:latin typeface="Google Sans"/>
              </a:rPr>
              <a:t>Estructuras de control:</a:t>
            </a:r>
            <a:r>
              <a:rPr lang="es-ES" b="0" u="none" strike="noStrike" dirty="0">
                <a:effectLst/>
                <a:latin typeface="Google Sans"/>
              </a:rPr>
              <a:t> Instrucciones (como los bucles </a:t>
            </a:r>
            <a:r>
              <a:rPr lang="es-ES" b="0" u="none" strike="noStrike" dirty="0" err="1">
                <a:effectLst/>
                <a:latin typeface="Courier New" panose="02070309020205020404" pitchFamily="49" charset="0"/>
              </a:rPr>
              <a:t>for</a:t>
            </a:r>
            <a:r>
              <a:rPr lang="es-ES" b="0" u="none" strike="noStrike" dirty="0">
                <a:effectLst/>
                <a:latin typeface="Google Sans"/>
              </a:rPr>
              <a:t>/</a:t>
            </a:r>
            <a:r>
              <a:rPr lang="es-ES" b="0" u="none" strike="noStrike" dirty="0" err="1">
                <a:effectLst/>
                <a:latin typeface="Courier New" panose="02070309020205020404" pitchFamily="49" charset="0"/>
              </a:rPr>
              <a:t>while</a:t>
            </a:r>
            <a:r>
              <a:rPr lang="es-ES" b="0" u="none" strike="noStrike" dirty="0">
                <a:effectLst/>
                <a:latin typeface="Google Sans"/>
              </a:rPr>
              <a:t> y las condiciones </a:t>
            </a:r>
            <a:r>
              <a:rPr lang="es-ES" b="0" u="none" strike="noStrike" dirty="0" err="1">
                <a:effectLst/>
                <a:latin typeface="Courier New" panose="02070309020205020404" pitchFamily="49" charset="0"/>
              </a:rPr>
              <a:t>if</a:t>
            </a:r>
            <a:r>
              <a:rPr lang="es-ES" b="0" u="none" strike="noStrike" dirty="0">
                <a:effectLst/>
                <a:latin typeface="Courier New" panose="02070309020205020404" pitchFamily="49" charset="0"/>
              </a:rPr>
              <a:t>/</a:t>
            </a:r>
            <a:r>
              <a:rPr lang="es-ES" b="0" u="none" strike="noStrike" dirty="0" err="1">
                <a:effectLst/>
                <a:latin typeface="Courier New" panose="02070309020205020404" pitchFamily="49" charset="0"/>
              </a:rPr>
              <a:t>else</a:t>
            </a:r>
            <a:r>
              <a:rPr lang="es-ES" b="0" u="none" strike="noStrike" dirty="0">
                <a:effectLst/>
                <a:latin typeface="Google Sans"/>
              </a:rPr>
              <a:t>) que controlan el flujo de ejecución.</a:t>
            </a:r>
          </a:p>
          <a:p>
            <a:pPr algn="just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s-ES" b="1" u="none" strike="noStrike" dirty="0">
                <a:effectLst/>
                <a:latin typeface="Google Sans"/>
              </a:rPr>
              <a:t>Pseudocódigo:</a:t>
            </a:r>
            <a:r>
              <a:rPr lang="es-ES" b="0" u="none" strike="noStrike" dirty="0">
                <a:effectLst/>
                <a:latin typeface="Google Sans"/>
              </a:rPr>
              <a:t> Es el lenguaje intermedio que mezcla lenguaje humano y reglas de programación para diseñar el algoritmo antes de escribir el código real. </a:t>
            </a:r>
          </a:p>
        </p:txBody>
      </p:sp>
      <p:pic>
        <p:nvPicPr>
          <p:cNvPr id="2050" name="Picture 2" descr="Algoritmos y Lógica de programación: ¿Qué es y porque es importante? |  Alura Cursos Online">
            <a:extLst>
              <a:ext uri="{FF2B5EF4-FFF2-40B4-BE49-F238E27FC236}">
                <a16:creationId xmlns:a16="http://schemas.microsoft.com/office/drawing/2014/main" id="{0D15A60B-41EC-0B26-5910-9F588BBDA9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2847" y="2115739"/>
            <a:ext cx="5305225" cy="3160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9916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4626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Tema de 2022">
  <a:themeElements>
    <a:clrScheme name="Personalizado 1">
      <a:dk1>
        <a:srgbClr val="39A900"/>
      </a:dk1>
      <a:lt1>
        <a:sysClr val="window" lastClr="FFFFFF"/>
      </a:lt1>
      <a:dk2>
        <a:srgbClr val="00304D"/>
      </a:dk2>
      <a:lt2>
        <a:srgbClr val="F6F6F6"/>
      </a:lt2>
      <a:accent1>
        <a:srgbClr val="007832"/>
      </a:accent1>
      <a:accent2>
        <a:srgbClr val="71127A"/>
      </a:accent2>
      <a:accent3>
        <a:srgbClr val="50E5F9"/>
      </a:accent3>
      <a:accent4>
        <a:srgbClr val="FDC300"/>
      </a:accent4>
      <a:accent5>
        <a:srgbClr val="000000"/>
      </a:accent5>
      <a:accent6>
        <a:srgbClr val="70AD47"/>
      </a:accent6>
      <a:hlink>
        <a:srgbClr val="0563C1"/>
      </a:hlink>
      <a:folHlink>
        <a:srgbClr val="71127A"/>
      </a:folHlink>
    </a:clrScheme>
    <a:fontScheme name="Office 2013 - Tema de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Tema de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4167</TotalTime>
  <Words>360</Words>
  <Application>Microsoft Office PowerPoint</Application>
  <PresentationFormat>Panorámica</PresentationFormat>
  <Paragraphs>20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5" baseType="lpstr">
      <vt:lpstr>Arial</vt:lpstr>
      <vt:lpstr>Calibri</vt:lpstr>
      <vt:lpstr>Calibri Light</vt:lpstr>
      <vt:lpstr>Courier New</vt:lpstr>
      <vt:lpstr>Google Sans</vt:lpstr>
      <vt:lpstr>Work Sans Bold Roman</vt:lpstr>
      <vt:lpstr>Work Sans Bold Roman</vt:lpstr>
      <vt:lpstr>WORK SANS SEMIBOLD ROMAN</vt:lpstr>
      <vt:lpstr>Office 2013 - Tema de 2022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Enrique Pedraza Sanchez</dc:creator>
  <cp:lastModifiedBy>SENA</cp:lastModifiedBy>
  <cp:revision>76</cp:revision>
  <dcterms:created xsi:type="dcterms:W3CDTF">2020-10-01T23:51:28Z</dcterms:created>
  <dcterms:modified xsi:type="dcterms:W3CDTF">2026-06-11T22:39:45Z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c111285-cafa-4fc9-8a9a-bd902089b24f_Enabled">
    <vt:lpwstr>true</vt:lpwstr>
  </property>
  <property fmtid="{D5CDD505-2E9C-101B-9397-08002B2CF9AE}" pid="3" name="MSIP_Label_fc111285-cafa-4fc9-8a9a-bd902089b24f_SetDate">
    <vt:lpwstr>2025-07-11T16:31:34Z</vt:lpwstr>
  </property>
  <property fmtid="{D5CDD505-2E9C-101B-9397-08002B2CF9AE}" pid="4" name="MSIP_Label_fc111285-cafa-4fc9-8a9a-bd902089b24f_Method">
    <vt:lpwstr>Privileged</vt:lpwstr>
  </property>
  <property fmtid="{D5CDD505-2E9C-101B-9397-08002B2CF9AE}" pid="5" name="MSIP_Label_fc111285-cafa-4fc9-8a9a-bd902089b24f_Name">
    <vt:lpwstr>Public</vt:lpwstr>
  </property>
  <property fmtid="{D5CDD505-2E9C-101B-9397-08002B2CF9AE}" pid="6" name="MSIP_Label_fc111285-cafa-4fc9-8a9a-bd902089b24f_SiteId">
    <vt:lpwstr>cbc2c381-2f2e-4d93-91d1-506c9316ace7</vt:lpwstr>
  </property>
  <property fmtid="{D5CDD505-2E9C-101B-9397-08002B2CF9AE}" pid="7" name="MSIP_Label_fc111285-cafa-4fc9-8a9a-bd902089b24f_ActionId">
    <vt:lpwstr>c6329c04-9ceb-4fca-88c8-0029777b3481</vt:lpwstr>
  </property>
  <property fmtid="{D5CDD505-2E9C-101B-9397-08002B2CF9AE}" pid="8" name="MSIP_Label_fc111285-cafa-4fc9-8a9a-bd902089b24f_ContentBits">
    <vt:lpwstr>0</vt:lpwstr>
  </property>
  <property fmtid="{D5CDD505-2E9C-101B-9397-08002B2CF9AE}" pid="9" name="MSIP_Label_fc111285-cafa-4fc9-8a9a-bd902089b24f_Tag">
    <vt:lpwstr>10, 0, 1, 1</vt:lpwstr>
  </property>
</Properties>
</file>